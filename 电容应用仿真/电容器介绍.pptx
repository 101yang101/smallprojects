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 id="2147483746" r:id="rId2"/>
    <p:sldMasterId id="2147483758" r:id="rId3"/>
    <p:sldMasterId id="2147483734" r:id="rId4"/>
  </p:sldMasterIdLst>
  <p:notesMasterIdLst>
    <p:notesMasterId r:id="rId33"/>
  </p:notesMasterIdLst>
  <p:handoutMasterIdLst>
    <p:handoutMasterId r:id="rId34"/>
  </p:handoutMasterIdLst>
  <p:sldIdLst>
    <p:sldId id="751" r:id="rId5"/>
    <p:sldId id="771" r:id="rId6"/>
    <p:sldId id="772" r:id="rId7"/>
    <p:sldId id="773" r:id="rId8"/>
    <p:sldId id="774" r:id="rId9"/>
    <p:sldId id="775" r:id="rId10"/>
    <p:sldId id="776" r:id="rId11"/>
    <p:sldId id="777" r:id="rId12"/>
    <p:sldId id="778" r:id="rId13"/>
    <p:sldId id="779" r:id="rId14"/>
    <p:sldId id="780" r:id="rId15"/>
    <p:sldId id="781" r:id="rId16"/>
    <p:sldId id="782" r:id="rId17"/>
    <p:sldId id="783" r:id="rId18"/>
    <p:sldId id="784" r:id="rId19"/>
    <p:sldId id="785" r:id="rId20"/>
    <p:sldId id="786" r:id="rId21"/>
    <p:sldId id="788" r:id="rId22"/>
    <p:sldId id="793" r:id="rId23"/>
    <p:sldId id="792" r:id="rId24"/>
    <p:sldId id="791" r:id="rId25"/>
    <p:sldId id="790" r:id="rId26"/>
    <p:sldId id="789" r:id="rId27"/>
    <p:sldId id="787" r:id="rId28"/>
    <p:sldId id="798" r:id="rId29"/>
    <p:sldId id="797" r:id="rId30"/>
    <p:sldId id="796" r:id="rId31"/>
    <p:sldId id="795" r:id="rId32"/>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壹林 張" initials="壹張" lastIdx="1" clrIdx="0">
    <p:extLst>
      <p:ext uri="{19B8F6BF-5375-455C-9EA6-DF929625EA0E}">
        <p15:presenceInfo xmlns:p15="http://schemas.microsoft.com/office/powerpoint/2012/main" userId="aeaf9c1872c95e4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00CC"/>
    <a:srgbClr val="FFCC00"/>
    <a:srgbClr val="003399"/>
    <a:srgbClr val="F4B0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77" autoAdjust="0"/>
    <p:restoredTop sz="94660"/>
  </p:normalViewPr>
  <p:slideViewPr>
    <p:cSldViewPr snapToGrid="0">
      <p:cViewPr varScale="1">
        <p:scale>
          <a:sx n="72" d="100"/>
          <a:sy n="72" d="100"/>
        </p:scale>
        <p:origin x="276" y="44"/>
      </p:cViewPr>
      <p:guideLst>
        <p:guide orient="horz" pos="2160"/>
        <p:guide pos="3840"/>
      </p:guideLst>
    </p:cSldViewPr>
  </p:slideViewPr>
  <p:notesTextViewPr>
    <p:cViewPr>
      <p:scale>
        <a:sx n="1" d="1"/>
        <a:sy n="1" d="1"/>
      </p:scale>
      <p:origin x="0" y="0"/>
    </p:cViewPr>
  </p:notesTextViewPr>
  <p:notesViewPr>
    <p:cSldViewPr snapToGrid="0">
      <p:cViewPr varScale="1">
        <p:scale>
          <a:sx n="61" d="100"/>
          <a:sy n="61" d="100"/>
        </p:scale>
        <p:origin x="-2505" y="-5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7233BD33-2A03-48D4-B3E8-7C815DB5E676}" type="datetimeFigureOut">
              <a:rPr lang="zh-CN" altLang="en-US"/>
              <a:pPr>
                <a:defRPr/>
              </a:pPr>
              <a:t>2023/12/24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FA25B391-F954-40F3-B212-0272731DA21E}" type="slidenum">
              <a:rPr lang="zh-CN" altLang="en-US"/>
              <a:pPr>
                <a:defRPr/>
              </a:pPr>
              <a:t>‹#›</a:t>
            </a:fld>
            <a:endParaRPr lang="zh-CN" altLang="en-US"/>
          </a:p>
        </p:txBody>
      </p:sp>
    </p:spTree>
    <p:extLst>
      <p:ext uri="{BB962C8B-B14F-4D97-AF65-F5344CB8AC3E}">
        <p14:creationId xmlns:p14="http://schemas.microsoft.com/office/powerpoint/2010/main" val="209639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10899B1-1421-45FA-A468-EABE093C9DA5}" type="datetimeFigureOut">
              <a:rPr lang="zh-CN" altLang="en-US"/>
              <a:pPr>
                <a:defRPr/>
              </a:pPr>
              <a:t>2023/12/24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B5321C21-8817-4860-A9D5-A2C6DF5A08D2}" type="slidenum">
              <a:rPr lang="zh-CN" altLang="en-US"/>
              <a:pPr>
                <a:defRPr/>
              </a:pPr>
              <a:t>‹#›</a:t>
            </a:fld>
            <a:endParaRPr lang="zh-CN" altLang="en-US"/>
          </a:p>
        </p:txBody>
      </p:sp>
    </p:spTree>
    <p:extLst>
      <p:ext uri="{BB962C8B-B14F-4D97-AF65-F5344CB8AC3E}">
        <p14:creationId xmlns:p14="http://schemas.microsoft.com/office/powerpoint/2010/main" val="6103170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电路基础首页版式-2">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1000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电路基础内页版式-1">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341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电路基础内页版式-2">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3176671" y="0"/>
            <a:ext cx="6099175" cy="523875"/>
          </a:xfrm>
          <a:prstGeom prst="rect">
            <a:avLst/>
          </a:prstGeom>
        </p:spPr>
        <p:txBody>
          <a:bodyPr/>
          <a:lstStyle>
            <a:lvl1pPr>
              <a:buNone/>
              <a:defRPr b="1">
                <a:solidFill>
                  <a:schemeClr val="bg1"/>
                </a:solidFill>
                <a:latin typeface="黑体" pitchFamily="49" charset="-122"/>
                <a:ea typeface="黑体" pitchFamily="49" charset="-122"/>
              </a:defRPr>
            </a:lvl1pPr>
          </a:lstStyle>
          <a:p>
            <a:pPr lvl="0"/>
            <a:r>
              <a:rPr lang="zh-CN" altLang="en-US"/>
              <a:t>单击此处编辑母版文本样式</a:t>
            </a:r>
          </a:p>
        </p:txBody>
      </p:sp>
    </p:spTree>
    <p:extLst>
      <p:ext uri="{BB962C8B-B14F-4D97-AF65-F5344CB8AC3E}">
        <p14:creationId xmlns:p14="http://schemas.microsoft.com/office/powerpoint/2010/main" val="4211270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电路基础内页版式-3">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930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0547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电路基础首页版式-2">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4047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F74D4595-5873-4F81-956D-A9B7EF626F89}" type="datetimeFigureOut">
              <a:rPr lang="zh-CN" altLang="en-US"/>
              <a:pPr>
                <a:defRPr/>
              </a:pPr>
              <a:t>2023/12/24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73855B4-2AA9-4D3E-89D7-CFDFE6151B0A}" type="slidenum">
              <a:rPr lang="zh-CN" altLang="en-US"/>
              <a:pPr>
                <a:defRPr/>
              </a:pPr>
              <a:t>‹#›</a:t>
            </a:fld>
            <a:endParaRPr lang="zh-CN" altLang="en-US"/>
          </a:p>
        </p:txBody>
      </p:sp>
    </p:spTree>
    <p:extLst>
      <p:ext uri="{BB962C8B-B14F-4D97-AF65-F5344CB8AC3E}">
        <p14:creationId xmlns:p14="http://schemas.microsoft.com/office/powerpoint/2010/main" val="593987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4FACB97-9373-4661-8C14-DC61668299DA}" type="datetimeFigureOut">
              <a:rPr lang="zh-CN" altLang="en-US"/>
              <a:pPr>
                <a:defRPr/>
              </a:pPr>
              <a:t>2023/12/24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3BEF612-AB3A-4C57-8E11-8570588468F1}" type="slidenum">
              <a:rPr lang="zh-CN" altLang="en-US"/>
              <a:pPr>
                <a:defRPr/>
              </a:pPr>
              <a:t>‹#›</a:t>
            </a:fld>
            <a:endParaRPr lang="zh-CN" altLang="en-US"/>
          </a:p>
        </p:txBody>
      </p:sp>
    </p:spTree>
    <p:extLst>
      <p:ext uri="{BB962C8B-B14F-4D97-AF65-F5344CB8AC3E}">
        <p14:creationId xmlns:p14="http://schemas.microsoft.com/office/powerpoint/2010/main" val="1676857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23385A36-CE1C-4BEE-BAE3-6D6DAC1FF91C}" type="datetimeFigureOut">
              <a:rPr lang="zh-CN" altLang="en-US"/>
              <a:pPr>
                <a:defRPr/>
              </a:pPr>
              <a:t>2023/12/24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FBA85EB-A584-4484-9608-7C3C1DEEDCE9}" type="slidenum">
              <a:rPr lang="zh-CN" altLang="en-US"/>
              <a:pPr>
                <a:defRPr/>
              </a:pPr>
              <a:t>‹#›</a:t>
            </a:fld>
            <a:endParaRPr lang="zh-CN" altLang="en-US"/>
          </a:p>
        </p:txBody>
      </p:sp>
    </p:spTree>
    <p:extLst>
      <p:ext uri="{BB962C8B-B14F-4D97-AF65-F5344CB8AC3E}">
        <p14:creationId xmlns:p14="http://schemas.microsoft.com/office/powerpoint/2010/main" val="639314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0550C238-7D75-414B-A755-B4F4180A6A0E}" type="datetimeFigureOut">
              <a:rPr lang="zh-CN" altLang="en-US"/>
              <a:pPr>
                <a:defRPr/>
              </a:pPr>
              <a:t>2023/12/24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B1F74F1-B653-4961-B517-51BACF896BCA}" type="slidenum">
              <a:rPr lang="zh-CN" altLang="en-US"/>
              <a:pPr>
                <a:defRPr/>
              </a:pPr>
              <a:t>‹#›</a:t>
            </a:fld>
            <a:endParaRPr lang="zh-CN" altLang="en-US"/>
          </a:p>
        </p:txBody>
      </p:sp>
    </p:spTree>
    <p:extLst>
      <p:ext uri="{BB962C8B-B14F-4D97-AF65-F5344CB8AC3E}">
        <p14:creationId xmlns:p14="http://schemas.microsoft.com/office/powerpoint/2010/main" val="481182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760F32B-FE0D-4EF1-83AE-7D483836FFE3}" type="datetimeFigureOut">
              <a:rPr lang="zh-CN" altLang="en-US"/>
              <a:pPr>
                <a:defRPr/>
              </a:pPr>
              <a:t>2023/12/24</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65124ADD-85BB-469F-A886-1AC626D91141}" type="slidenum">
              <a:rPr lang="zh-CN" altLang="en-US"/>
              <a:pPr>
                <a:defRPr/>
              </a:pPr>
              <a:t>‹#›</a:t>
            </a:fld>
            <a:endParaRPr lang="zh-CN" altLang="en-US"/>
          </a:p>
        </p:txBody>
      </p:sp>
    </p:spTree>
    <p:extLst>
      <p:ext uri="{BB962C8B-B14F-4D97-AF65-F5344CB8AC3E}">
        <p14:creationId xmlns:p14="http://schemas.microsoft.com/office/powerpoint/2010/main" val="2355252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0E4E6DB9-79AD-4717-B1A0-BFD45955C4CE}" type="datetimeFigureOut">
              <a:rPr lang="zh-CN" altLang="en-US"/>
              <a:pPr>
                <a:defRPr/>
              </a:pPr>
              <a:t>2023/12/24</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D3390234-4E25-46F0-8281-8B8516595814}" type="slidenum">
              <a:rPr lang="zh-CN" altLang="en-US"/>
              <a:pPr>
                <a:defRPr/>
              </a:pPr>
              <a:t>‹#›</a:t>
            </a:fld>
            <a:endParaRPr lang="zh-CN" altLang="en-US"/>
          </a:p>
        </p:txBody>
      </p:sp>
    </p:spTree>
    <p:extLst>
      <p:ext uri="{BB962C8B-B14F-4D97-AF65-F5344CB8AC3E}">
        <p14:creationId xmlns:p14="http://schemas.microsoft.com/office/powerpoint/2010/main" val="33740913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15E5189-6225-4755-AA57-259547E181AA}" type="datetimeFigureOut">
              <a:rPr lang="zh-CN" altLang="en-US"/>
              <a:pPr>
                <a:defRPr/>
              </a:pPr>
              <a:t>2023/12/24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915E570-9180-4476-8C7C-39BA6B641A03}" type="slidenum">
              <a:rPr lang="zh-CN" altLang="en-US"/>
              <a:pPr>
                <a:defRPr/>
              </a:pPr>
              <a:t>‹#›</a:t>
            </a:fld>
            <a:endParaRPr lang="zh-CN" altLang="en-US"/>
          </a:p>
        </p:txBody>
      </p:sp>
    </p:spTree>
    <p:extLst>
      <p:ext uri="{BB962C8B-B14F-4D97-AF65-F5344CB8AC3E}">
        <p14:creationId xmlns:p14="http://schemas.microsoft.com/office/powerpoint/2010/main" val="3669839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17A5F4C1-4446-4B2A-A0D7-E72992E218D5}" type="datetimeFigureOut">
              <a:rPr lang="zh-CN" altLang="en-US"/>
              <a:pPr>
                <a:defRPr/>
              </a:pPr>
              <a:t>2023/12/24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5CE8B0D-A4B8-4732-B9BA-9F9926144169}" type="slidenum">
              <a:rPr lang="zh-CN" altLang="en-US"/>
              <a:pPr>
                <a:defRPr/>
              </a:pPr>
              <a:t>‹#›</a:t>
            </a:fld>
            <a:endParaRPr lang="zh-CN" altLang="en-US"/>
          </a:p>
        </p:txBody>
      </p:sp>
    </p:spTree>
    <p:extLst>
      <p:ext uri="{BB962C8B-B14F-4D97-AF65-F5344CB8AC3E}">
        <p14:creationId xmlns:p14="http://schemas.microsoft.com/office/powerpoint/2010/main" val="20999275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504330C-E9BF-4652-94FF-AAA879143280}" type="datetimeFigureOut">
              <a:rPr lang="zh-CN" altLang="en-US"/>
              <a:pPr>
                <a:defRPr/>
              </a:pPr>
              <a:t>2023/12/24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CFA681E-4F8D-402A-99F4-A15E366DAEDD}" type="slidenum">
              <a:rPr lang="zh-CN" altLang="en-US"/>
              <a:pPr>
                <a:defRPr/>
              </a:pPr>
              <a:t>‹#›</a:t>
            </a:fld>
            <a:endParaRPr lang="zh-CN" altLang="en-US"/>
          </a:p>
        </p:txBody>
      </p:sp>
    </p:spTree>
    <p:extLst>
      <p:ext uri="{BB962C8B-B14F-4D97-AF65-F5344CB8AC3E}">
        <p14:creationId xmlns:p14="http://schemas.microsoft.com/office/powerpoint/2010/main" val="16500334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144AA20-C4E8-4BC3-B8C6-8EE0F174A4EA}" type="datetimeFigureOut">
              <a:rPr lang="zh-CN" altLang="en-US"/>
              <a:pPr>
                <a:defRPr/>
              </a:pPr>
              <a:t>2023/12/24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DEF5CB1-F3A1-4DDB-B2AF-FE21373DE24A}" type="slidenum">
              <a:rPr lang="zh-CN" altLang="en-US"/>
              <a:pPr>
                <a:defRPr/>
              </a:pPr>
              <a:t>‹#›</a:t>
            </a:fld>
            <a:endParaRPr lang="zh-CN" altLang="en-US"/>
          </a:p>
        </p:txBody>
      </p:sp>
    </p:spTree>
    <p:extLst>
      <p:ext uri="{BB962C8B-B14F-4D97-AF65-F5344CB8AC3E}">
        <p14:creationId xmlns:p14="http://schemas.microsoft.com/office/powerpoint/2010/main" val="3806869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72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ABD5C7A-55FB-4549-BC6F-D41B0A534C70}" type="datetimeFigureOut">
              <a:rPr lang="zh-CN" altLang="en-US"/>
              <a:pPr>
                <a:defRPr/>
              </a:pPr>
              <a:t>2023/12/24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0E1B17B-D952-40E0-9117-BBC7CD54277D}" type="slidenum">
              <a:rPr lang="zh-CN" altLang="en-US"/>
              <a:pPr>
                <a:defRPr/>
              </a:pPr>
              <a:t>‹#›</a:t>
            </a:fld>
            <a:endParaRPr lang="zh-CN" altLang="en-US"/>
          </a:p>
        </p:txBody>
      </p:sp>
    </p:spTree>
    <p:extLst>
      <p:ext uri="{BB962C8B-B14F-4D97-AF65-F5344CB8AC3E}">
        <p14:creationId xmlns:p14="http://schemas.microsoft.com/office/powerpoint/2010/main" val="34930928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电路基础首页版式-1">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2611438" y="24064"/>
            <a:ext cx="4372894" cy="493713"/>
          </a:xfrm>
          <a:prstGeom prst="rect">
            <a:avLst/>
          </a:prstGeom>
        </p:spPr>
        <p:txBody>
          <a:bodyPr/>
          <a:lstStyle>
            <a:lvl1pPr>
              <a:buNone/>
              <a:defRPr b="1">
                <a:solidFill>
                  <a:srgbClr val="C00000"/>
                </a:solidFill>
                <a:latin typeface="黑体" pitchFamily="49" charset="-122"/>
                <a:ea typeface="黑体" pitchFamily="49" charset="-122"/>
              </a:defRPr>
            </a:lvl1pPr>
          </a:lstStyle>
          <a:p>
            <a:pPr lvl="0"/>
            <a:r>
              <a:rPr lang="zh-CN" altLang="en-US"/>
              <a:t>单击此处编辑母版文本样式</a:t>
            </a:r>
          </a:p>
        </p:txBody>
      </p:sp>
      <p:sp>
        <p:nvSpPr>
          <p:cNvPr id="5" name="文本占位符 3"/>
          <p:cNvSpPr>
            <a:spLocks noGrp="1"/>
          </p:cNvSpPr>
          <p:nvPr>
            <p:ph type="body" sz="quarter" idx="11"/>
          </p:nvPr>
        </p:nvSpPr>
        <p:spPr>
          <a:xfrm>
            <a:off x="7576469" y="6016"/>
            <a:ext cx="4372894" cy="493713"/>
          </a:xfrm>
          <a:prstGeom prst="rect">
            <a:avLst/>
          </a:prstGeom>
        </p:spPr>
        <p:txBody>
          <a:bodyPr/>
          <a:lstStyle>
            <a:lvl1pPr>
              <a:buNone/>
              <a:defRPr b="1">
                <a:solidFill>
                  <a:schemeClr val="bg1"/>
                </a:solidFill>
                <a:latin typeface="黑体" pitchFamily="49" charset="-122"/>
                <a:ea typeface="黑体" pitchFamily="49" charset="-122"/>
              </a:defRPr>
            </a:lvl1pPr>
          </a:lstStyle>
          <a:p>
            <a:pPr lvl="0"/>
            <a:r>
              <a:rPr lang="zh-CN" altLang="en-US"/>
              <a:t>单击此处编辑母版文本样式</a:t>
            </a:r>
          </a:p>
        </p:txBody>
      </p:sp>
    </p:spTree>
    <p:extLst>
      <p:ext uri="{BB962C8B-B14F-4D97-AF65-F5344CB8AC3E}">
        <p14:creationId xmlns:p14="http://schemas.microsoft.com/office/powerpoint/2010/main" val="17397237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电路基础首页版式-2">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35881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电路基础首页版式-3">
    <p:spTree>
      <p:nvGrpSpPr>
        <p:cNvPr id="1" name=""/>
        <p:cNvGrpSpPr/>
        <p:nvPr/>
      </p:nvGrpSpPr>
      <p:grpSpPr>
        <a:xfrm>
          <a:off x="0" y="0"/>
          <a:ext cx="0" cy="0"/>
          <a:chOff x="0" y="0"/>
          <a:chExt cx="0" cy="0"/>
        </a:xfrm>
      </p:grpSpPr>
    </p:spTree>
    <p:extLst>
      <p:ext uri="{BB962C8B-B14F-4D97-AF65-F5344CB8AC3E}">
        <p14:creationId xmlns:p14="http://schemas.microsoft.com/office/powerpoint/2010/main" val="7158481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电路基础内页版式-3">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10826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F16F89E1-3412-4231-BF85-01F0C31EF873}" type="datetimeFigureOut">
              <a:rPr lang="zh-CN" altLang="en-US"/>
              <a:pPr>
                <a:defRPr/>
              </a:pPr>
              <a:t>2023/12/24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64738BF-FC67-4705-BE57-02EFFCDE1AB9}" type="slidenum">
              <a:rPr lang="zh-CN" altLang="en-US"/>
              <a:pPr>
                <a:defRPr/>
              </a:pPr>
              <a:t>‹#›</a:t>
            </a:fld>
            <a:endParaRPr lang="zh-CN" altLang="en-US"/>
          </a:p>
        </p:txBody>
      </p:sp>
    </p:spTree>
    <p:extLst>
      <p:ext uri="{BB962C8B-B14F-4D97-AF65-F5344CB8AC3E}">
        <p14:creationId xmlns:p14="http://schemas.microsoft.com/office/powerpoint/2010/main" val="248277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88FC78F-0EFC-4733-BD05-B684937D316B}" type="datetimeFigureOut">
              <a:rPr lang="zh-CN" altLang="en-US"/>
              <a:pPr>
                <a:defRPr/>
              </a:pPr>
              <a:t>2023/12/24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044ED02-2462-48F4-A2F0-6229BF23D532}" type="slidenum">
              <a:rPr lang="zh-CN" altLang="en-US"/>
              <a:pPr>
                <a:defRPr/>
              </a:pPr>
              <a:t>‹#›</a:t>
            </a:fld>
            <a:endParaRPr lang="zh-CN" altLang="en-US"/>
          </a:p>
        </p:txBody>
      </p:sp>
    </p:spTree>
    <p:extLst>
      <p:ext uri="{BB962C8B-B14F-4D97-AF65-F5344CB8AC3E}">
        <p14:creationId xmlns:p14="http://schemas.microsoft.com/office/powerpoint/2010/main" val="14934511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0343D16E-9C56-40A8-901A-E59EBFF1BA37}" type="datetimeFigureOut">
              <a:rPr lang="zh-CN" altLang="en-US"/>
              <a:pPr>
                <a:defRPr/>
              </a:pPr>
              <a:t>2023/12/24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B80EB01-40D2-4E04-86FC-D6E20A5CF0A8}" type="slidenum">
              <a:rPr lang="zh-CN" altLang="en-US"/>
              <a:pPr>
                <a:defRPr/>
              </a:pPr>
              <a:t>‹#›</a:t>
            </a:fld>
            <a:endParaRPr lang="zh-CN" altLang="en-US"/>
          </a:p>
        </p:txBody>
      </p:sp>
    </p:spTree>
    <p:extLst>
      <p:ext uri="{BB962C8B-B14F-4D97-AF65-F5344CB8AC3E}">
        <p14:creationId xmlns:p14="http://schemas.microsoft.com/office/powerpoint/2010/main" val="22284950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844A8F8F-CAB0-4BBE-B9B1-C0096380F3DA}" type="datetimeFigureOut">
              <a:rPr lang="zh-CN" altLang="en-US"/>
              <a:pPr>
                <a:defRPr/>
              </a:pPr>
              <a:t>2023/12/24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1A3B012-0D3E-4BDF-AF06-CC9EAD1A5A0F}" type="slidenum">
              <a:rPr lang="zh-CN" altLang="en-US"/>
              <a:pPr>
                <a:defRPr/>
              </a:pPr>
              <a:t>‹#›</a:t>
            </a:fld>
            <a:endParaRPr lang="zh-CN" altLang="en-US"/>
          </a:p>
        </p:txBody>
      </p:sp>
    </p:spTree>
    <p:extLst>
      <p:ext uri="{BB962C8B-B14F-4D97-AF65-F5344CB8AC3E}">
        <p14:creationId xmlns:p14="http://schemas.microsoft.com/office/powerpoint/2010/main" val="3057183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B0DB3091-D088-4070-9442-53EFB6E6A9F7}" type="datetimeFigureOut">
              <a:rPr lang="zh-CN" altLang="en-US"/>
              <a:pPr>
                <a:defRPr/>
              </a:pPr>
              <a:t>2023/12/24</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3921C48A-2488-4109-A6CC-6801E604980F}" type="slidenum">
              <a:rPr lang="zh-CN" altLang="en-US"/>
              <a:pPr>
                <a:defRPr/>
              </a:pPr>
              <a:t>‹#›</a:t>
            </a:fld>
            <a:endParaRPr lang="zh-CN" altLang="en-US"/>
          </a:p>
        </p:txBody>
      </p:sp>
    </p:spTree>
    <p:extLst>
      <p:ext uri="{BB962C8B-B14F-4D97-AF65-F5344CB8AC3E}">
        <p14:creationId xmlns:p14="http://schemas.microsoft.com/office/powerpoint/2010/main" val="3456914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21F5E435-9988-4EFF-9030-9C3263557EDE}" type="datetimeFigureOut">
              <a:rPr lang="zh-CN" altLang="en-US"/>
              <a:pPr>
                <a:defRPr/>
              </a:pPr>
              <a:t>2023/12/24</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7B27ECB5-DFAB-4285-8573-851DDCC102AC}" type="slidenum">
              <a:rPr lang="zh-CN" altLang="en-US"/>
              <a:pPr>
                <a:defRPr/>
              </a:pPr>
              <a:t>‹#›</a:t>
            </a:fld>
            <a:endParaRPr lang="zh-CN" altLang="en-US"/>
          </a:p>
        </p:txBody>
      </p:sp>
    </p:spTree>
    <p:extLst>
      <p:ext uri="{BB962C8B-B14F-4D97-AF65-F5344CB8AC3E}">
        <p14:creationId xmlns:p14="http://schemas.microsoft.com/office/powerpoint/2010/main" val="33521289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0CB61000-B023-4C9A-B1C1-3834AD5595A2}" type="datetimeFigureOut">
              <a:rPr lang="zh-CN" altLang="en-US"/>
              <a:pPr>
                <a:defRPr/>
              </a:pPr>
              <a:t>2023/12/24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640842EE-F6E2-4574-9D6D-1CACE52A7142}" type="slidenum">
              <a:rPr lang="zh-CN" altLang="en-US"/>
              <a:pPr>
                <a:defRPr/>
              </a:pPr>
              <a:t>‹#›</a:t>
            </a:fld>
            <a:endParaRPr lang="zh-CN" altLang="en-US"/>
          </a:p>
        </p:txBody>
      </p:sp>
    </p:spTree>
    <p:extLst>
      <p:ext uri="{BB962C8B-B14F-4D97-AF65-F5344CB8AC3E}">
        <p14:creationId xmlns:p14="http://schemas.microsoft.com/office/powerpoint/2010/main" val="865381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D91D63C6-E525-4CAD-80C7-8E0E766028BA}" type="datetimeFigureOut">
              <a:rPr lang="zh-CN" altLang="en-US"/>
              <a:pPr>
                <a:defRPr/>
              </a:pPr>
              <a:t>2023/12/24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048C397-9D0B-43BD-847D-298106178EEB}" type="slidenum">
              <a:rPr lang="zh-CN" altLang="en-US"/>
              <a:pPr>
                <a:defRPr/>
              </a:pPr>
              <a:t>‹#›</a:t>
            </a:fld>
            <a:endParaRPr lang="zh-CN" altLang="en-US"/>
          </a:p>
        </p:txBody>
      </p:sp>
    </p:spTree>
    <p:extLst>
      <p:ext uri="{BB962C8B-B14F-4D97-AF65-F5344CB8AC3E}">
        <p14:creationId xmlns:p14="http://schemas.microsoft.com/office/powerpoint/2010/main" val="33211841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F391E79-F97D-4C8F-94D1-6EA073C4AB3B}" type="datetimeFigureOut">
              <a:rPr lang="zh-CN" altLang="en-US"/>
              <a:pPr>
                <a:defRPr/>
              </a:pPr>
              <a:t>2023/12/24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24C5C47-F2C3-4BC2-B3F1-AEED920FD0A9}" type="slidenum">
              <a:rPr lang="zh-CN" altLang="en-US"/>
              <a:pPr>
                <a:defRPr/>
              </a:pPr>
              <a:t>‹#›</a:t>
            </a:fld>
            <a:endParaRPr lang="zh-CN" altLang="en-US"/>
          </a:p>
        </p:txBody>
      </p:sp>
    </p:spTree>
    <p:extLst>
      <p:ext uri="{BB962C8B-B14F-4D97-AF65-F5344CB8AC3E}">
        <p14:creationId xmlns:p14="http://schemas.microsoft.com/office/powerpoint/2010/main" val="9888619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BE059155-7535-470A-9D7A-09CED7438C19}" type="datetimeFigureOut">
              <a:rPr lang="zh-CN" altLang="en-US"/>
              <a:pPr>
                <a:defRPr/>
              </a:pPr>
              <a:t>2023/12/24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39B19AA-5133-4725-A49C-3420020C995A}" type="slidenum">
              <a:rPr lang="zh-CN" altLang="en-US"/>
              <a:pPr>
                <a:defRPr/>
              </a:pPr>
              <a:t>‹#›</a:t>
            </a:fld>
            <a:endParaRPr lang="zh-CN" altLang="en-US"/>
          </a:p>
        </p:txBody>
      </p:sp>
    </p:spTree>
    <p:extLst>
      <p:ext uri="{BB962C8B-B14F-4D97-AF65-F5344CB8AC3E}">
        <p14:creationId xmlns:p14="http://schemas.microsoft.com/office/powerpoint/2010/main" val="12789717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72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E8D4424-922F-48CF-B2D2-3B4C35C63FC6}" type="datetimeFigureOut">
              <a:rPr lang="zh-CN" altLang="en-US"/>
              <a:pPr>
                <a:defRPr/>
              </a:pPr>
              <a:t>2023/12/24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6F9985D-2E21-4428-BCD6-F9C7C2D89FDD}" type="slidenum">
              <a:rPr lang="zh-CN" altLang="en-US"/>
              <a:pPr>
                <a:defRPr/>
              </a:pPr>
              <a:t>‹#›</a:t>
            </a:fld>
            <a:endParaRPr lang="zh-CN" altLang="en-US"/>
          </a:p>
        </p:txBody>
      </p:sp>
    </p:spTree>
    <p:extLst>
      <p:ext uri="{BB962C8B-B14F-4D97-AF65-F5344CB8AC3E}">
        <p14:creationId xmlns:p14="http://schemas.microsoft.com/office/powerpoint/2010/main" val="3475514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image" Target="../media/image2.png"/><Relationship Id="rId5" Type="http://schemas.openxmlformats.org/officeDocument/2006/relationships/theme" Target="../theme/theme3.xml"/><Relationship Id="rId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8"/>
          <p:cNvSpPr>
            <a:spLocks noChangeArrowheads="1"/>
          </p:cNvSpPr>
          <p:nvPr userDrawn="1"/>
        </p:nvSpPr>
        <p:spPr bwMode="auto">
          <a:xfrm>
            <a:off x="2466975" y="0"/>
            <a:ext cx="9725025" cy="528638"/>
          </a:xfrm>
          <a:prstGeom prst="rect">
            <a:avLst/>
          </a:prstGeom>
          <a:solidFill>
            <a:srgbClr val="003399"/>
          </a:solidFill>
          <a:ln w="9525">
            <a:noFill/>
            <a:miter lim="800000"/>
            <a:headEnd/>
            <a:tailEnd/>
          </a:ln>
          <a:effectLst>
            <a:outerShdw blurRad="50800" dist="38100" dir="2700000" algn="tl" rotWithShape="0">
              <a:prstClr val="black">
                <a:alpha val="40000"/>
              </a:prstClr>
            </a:outerShdw>
          </a:effectLst>
        </p:spPr>
        <p:txBody>
          <a:bodyPr wrap="none" anchor="ctr"/>
          <a:lstStyle/>
          <a:p>
            <a:pPr eaLnBrk="1" fontAlgn="auto" hangingPunct="1">
              <a:spcBef>
                <a:spcPts val="0"/>
              </a:spcBef>
              <a:spcAft>
                <a:spcPts val="0"/>
              </a:spcAft>
              <a:defRPr/>
            </a:pPr>
            <a:endParaRPr lang="zh-CN" altLang="en-US" dirty="0">
              <a:solidFill>
                <a:schemeClr val="bg1"/>
              </a:solidFill>
              <a:latin typeface="Arial" charset="0"/>
              <a:ea typeface="+mn-ea"/>
            </a:endParaRPr>
          </a:p>
        </p:txBody>
      </p:sp>
      <p:sp>
        <p:nvSpPr>
          <p:cNvPr id="17" name="文本占位符 7"/>
          <p:cNvSpPr txBox="1">
            <a:spLocks/>
          </p:cNvSpPr>
          <p:nvPr userDrawn="1"/>
        </p:nvSpPr>
        <p:spPr>
          <a:xfrm>
            <a:off x="2460625" y="0"/>
            <a:ext cx="9432925" cy="492125"/>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endParaRPr lang="zh-CN" altLang="en-US" dirty="0"/>
          </a:p>
        </p:txBody>
      </p:sp>
      <p:pic>
        <p:nvPicPr>
          <p:cNvPr id="1028" name="Picture 18"/>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307975" y="0"/>
            <a:ext cx="2163763" cy="65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8"/>
          <p:cNvSpPr>
            <a:spLocks noChangeArrowheads="1"/>
          </p:cNvSpPr>
          <p:nvPr userDrawn="1"/>
        </p:nvSpPr>
        <p:spPr bwMode="auto">
          <a:xfrm flipV="1">
            <a:off x="0" y="6742113"/>
            <a:ext cx="5975350" cy="25400"/>
          </a:xfrm>
          <a:prstGeom prst="rect">
            <a:avLst/>
          </a:prstGeom>
          <a:gradFill flip="none" rotWithShape="1">
            <a:gsLst>
              <a:gs pos="6000">
                <a:srgbClr val="003399"/>
              </a:gs>
              <a:gs pos="79000">
                <a:schemeClr val="bg1"/>
              </a:gs>
            </a:gsLst>
            <a:lin ang="0" scaled="1"/>
            <a:tileRect/>
          </a:gradFill>
          <a:ln w="9525">
            <a:noFill/>
            <a:miter lim="800000"/>
            <a:headEnd/>
            <a:tailEnd/>
          </a:ln>
          <a:effectLst/>
        </p:spPr>
        <p:txBody>
          <a:bodyPr wrap="none" anchor="ctr"/>
          <a:lstStyle/>
          <a:p>
            <a:pPr eaLnBrk="1" fontAlgn="auto" hangingPunct="1">
              <a:spcBef>
                <a:spcPts val="0"/>
              </a:spcBef>
              <a:spcAft>
                <a:spcPts val="0"/>
              </a:spcAft>
              <a:defRPr/>
            </a:pPr>
            <a:endParaRPr lang="zh-CN" altLang="en-US" dirty="0">
              <a:solidFill>
                <a:schemeClr val="bg1"/>
              </a:solidFill>
              <a:latin typeface="Arial" charset="0"/>
              <a:ea typeface="+mn-ea"/>
            </a:endParaRPr>
          </a:p>
        </p:txBody>
      </p:sp>
      <p:sp>
        <p:nvSpPr>
          <p:cNvPr id="23" name="文本占位符 7"/>
          <p:cNvSpPr txBox="1">
            <a:spLocks/>
          </p:cNvSpPr>
          <p:nvPr userDrawn="1"/>
        </p:nvSpPr>
        <p:spPr>
          <a:xfrm>
            <a:off x="2568575" y="6350"/>
            <a:ext cx="4179888" cy="49371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rgbClr val="FF0000"/>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endParaRPr lang="zh-CN" altLang="en-US" dirty="0">
              <a:solidFill>
                <a:srgbClr val="C00000"/>
              </a:solidFill>
            </a:endParaRPr>
          </a:p>
        </p:txBody>
      </p:sp>
      <p:sp>
        <p:nvSpPr>
          <p:cNvPr id="24" name="文本占位符 7"/>
          <p:cNvSpPr txBox="1">
            <a:spLocks/>
          </p:cNvSpPr>
          <p:nvPr userDrawn="1"/>
        </p:nvSpPr>
        <p:spPr>
          <a:xfrm>
            <a:off x="7537450" y="9525"/>
            <a:ext cx="4654550" cy="492125"/>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spcAft>
                <a:spcPts val="0"/>
              </a:spcAft>
              <a:defRPr/>
            </a:pPr>
            <a:endParaRPr lang="zh-CN" altLang="en-US" dirty="0"/>
          </a:p>
        </p:txBody>
      </p:sp>
      <p:sp>
        <p:nvSpPr>
          <p:cNvPr id="1032" name="Rectangle 9"/>
          <p:cNvSpPr>
            <a:spLocks noChangeArrowheads="1"/>
          </p:cNvSpPr>
          <p:nvPr userDrawn="1"/>
        </p:nvSpPr>
        <p:spPr bwMode="auto">
          <a:xfrm>
            <a:off x="0" y="-3175"/>
            <a:ext cx="287338" cy="71438"/>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defRPr/>
            </a:pPr>
            <a:endParaRPr lang="zh-CN" altLang="en-US"/>
          </a:p>
        </p:txBody>
      </p:sp>
      <p:sp>
        <p:nvSpPr>
          <p:cNvPr id="1033" name="Rectangle 9"/>
          <p:cNvSpPr>
            <a:spLocks noChangeArrowheads="1"/>
          </p:cNvSpPr>
          <p:nvPr userDrawn="1"/>
        </p:nvSpPr>
        <p:spPr bwMode="auto">
          <a:xfrm>
            <a:off x="0" y="117475"/>
            <a:ext cx="287338" cy="71438"/>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defRPr/>
            </a:pPr>
            <a:endParaRPr lang="zh-CN" altLang="en-US"/>
          </a:p>
        </p:txBody>
      </p:sp>
      <p:sp>
        <p:nvSpPr>
          <p:cNvPr id="1034" name="Rectangle 9"/>
          <p:cNvSpPr>
            <a:spLocks noChangeArrowheads="1"/>
          </p:cNvSpPr>
          <p:nvPr userDrawn="1"/>
        </p:nvSpPr>
        <p:spPr bwMode="auto">
          <a:xfrm>
            <a:off x="0" y="238125"/>
            <a:ext cx="287338" cy="71438"/>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defRPr/>
            </a:pPr>
            <a:endParaRPr lang="zh-CN" altLang="en-US"/>
          </a:p>
        </p:txBody>
      </p:sp>
      <p:sp>
        <p:nvSpPr>
          <p:cNvPr id="1035" name="Rectangle 9"/>
          <p:cNvSpPr>
            <a:spLocks noChangeArrowheads="1"/>
          </p:cNvSpPr>
          <p:nvPr userDrawn="1"/>
        </p:nvSpPr>
        <p:spPr bwMode="auto">
          <a:xfrm>
            <a:off x="0" y="358775"/>
            <a:ext cx="287338" cy="71438"/>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defRPr/>
            </a:pPr>
            <a:endParaRPr lang="zh-CN" altLang="en-US"/>
          </a:p>
        </p:txBody>
      </p:sp>
      <p:sp>
        <p:nvSpPr>
          <p:cNvPr id="1036" name="Rectangle 9"/>
          <p:cNvSpPr>
            <a:spLocks noChangeArrowheads="1"/>
          </p:cNvSpPr>
          <p:nvPr userDrawn="1"/>
        </p:nvSpPr>
        <p:spPr bwMode="auto">
          <a:xfrm>
            <a:off x="0" y="479425"/>
            <a:ext cx="287338" cy="71438"/>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defRPr/>
            </a:pPr>
            <a:endParaRPr lang="zh-CN" altLang="en-US"/>
          </a:p>
        </p:txBody>
      </p:sp>
      <p:sp>
        <p:nvSpPr>
          <p:cNvPr id="30" name="Rectangle 8"/>
          <p:cNvSpPr>
            <a:spLocks noChangeArrowheads="1"/>
          </p:cNvSpPr>
          <p:nvPr userDrawn="1"/>
        </p:nvSpPr>
        <p:spPr bwMode="auto">
          <a:xfrm flipV="1">
            <a:off x="0" y="6570663"/>
            <a:ext cx="5975350" cy="23812"/>
          </a:xfrm>
          <a:prstGeom prst="rect">
            <a:avLst/>
          </a:prstGeom>
          <a:gradFill flip="none" rotWithShape="1">
            <a:gsLst>
              <a:gs pos="6000">
                <a:srgbClr val="003399"/>
              </a:gs>
              <a:gs pos="79000">
                <a:schemeClr val="bg1"/>
              </a:gs>
            </a:gsLst>
            <a:lin ang="0" scaled="1"/>
            <a:tileRect/>
          </a:gradFill>
          <a:ln w="9525">
            <a:noFill/>
            <a:miter lim="800000"/>
            <a:headEnd/>
            <a:tailEnd/>
          </a:ln>
          <a:effectLst/>
        </p:spPr>
        <p:txBody>
          <a:bodyPr wrap="none" anchor="ctr"/>
          <a:lstStyle/>
          <a:p>
            <a:pPr eaLnBrk="1" fontAlgn="auto" hangingPunct="1">
              <a:spcBef>
                <a:spcPts val="0"/>
              </a:spcBef>
              <a:spcAft>
                <a:spcPts val="0"/>
              </a:spcAft>
              <a:defRPr/>
            </a:pPr>
            <a:endParaRPr lang="zh-CN" altLang="en-US" dirty="0">
              <a:solidFill>
                <a:schemeClr val="bg1"/>
              </a:solidFill>
              <a:latin typeface="Arial" charset="0"/>
              <a:ea typeface="+mn-ea"/>
            </a:endParaRPr>
          </a:p>
        </p:txBody>
      </p:sp>
      <p:sp>
        <p:nvSpPr>
          <p:cNvPr id="31" name="Rectangle 8"/>
          <p:cNvSpPr>
            <a:spLocks noChangeArrowheads="1"/>
          </p:cNvSpPr>
          <p:nvPr userDrawn="1"/>
        </p:nvSpPr>
        <p:spPr bwMode="auto">
          <a:xfrm flipV="1">
            <a:off x="0" y="6656388"/>
            <a:ext cx="5975350" cy="25400"/>
          </a:xfrm>
          <a:prstGeom prst="rect">
            <a:avLst/>
          </a:prstGeom>
          <a:gradFill flip="none" rotWithShape="1">
            <a:gsLst>
              <a:gs pos="6000">
                <a:srgbClr val="003399"/>
              </a:gs>
              <a:gs pos="79000">
                <a:schemeClr val="bg1"/>
              </a:gs>
            </a:gsLst>
            <a:lin ang="0" scaled="1"/>
            <a:tileRect/>
          </a:gradFill>
          <a:ln w="9525">
            <a:noFill/>
            <a:miter lim="800000"/>
            <a:headEnd/>
            <a:tailEnd/>
          </a:ln>
          <a:effectLst/>
        </p:spPr>
        <p:txBody>
          <a:bodyPr wrap="none" anchor="ctr"/>
          <a:lstStyle/>
          <a:p>
            <a:pPr eaLnBrk="1" fontAlgn="auto" hangingPunct="1">
              <a:spcBef>
                <a:spcPts val="0"/>
              </a:spcBef>
              <a:spcAft>
                <a:spcPts val="0"/>
              </a:spcAft>
              <a:defRPr/>
            </a:pPr>
            <a:endParaRPr lang="zh-CN" altLang="en-US" dirty="0">
              <a:solidFill>
                <a:schemeClr val="bg1"/>
              </a:solidFill>
              <a:latin typeface="Arial" charset="0"/>
              <a:ea typeface="+mn-ea"/>
            </a:endParaRPr>
          </a:p>
        </p:txBody>
      </p:sp>
      <p:sp>
        <p:nvSpPr>
          <p:cNvPr id="32" name="Rectangle 8"/>
          <p:cNvSpPr>
            <a:spLocks noChangeArrowheads="1"/>
          </p:cNvSpPr>
          <p:nvPr userDrawn="1"/>
        </p:nvSpPr>
        <p:spPr bwMode="auto">
          <a:xfrm rot="10800000" flipV="1">
            <a:off x="6216650" y="6743700"/>
            <a:ext cx="5975350" cy="25400"/>
          </a:xfrm>
          <a:prstGeom prst="rect">
            <a:avLst/>
          </a:prstGeom>
          <a:gradFill>
            <a:gsLst>
              <a:gs pos="6000">
                <a:srgbClr val="003399"/>
              </a:gs>
              <a:gs pos="79000">
                <a:schemeClr val="bg1"/>
              </a:gs>
            </a:gsLst>
            <a:lin ang="0" scaled="1"/>
          </a:gradFill>
          <a:ln w="9525">
            <a:noFill/>
            <a:miter lim="800000"/>
            <a:headEnd/>
            <a:tailEnd/>
          </a:ln>
          <a:effectLst/>
        </p:spPr>
        <p:txBody>
          <a:bodyPr wrap="none" anchor="ctr"/>
          <a:lstStyle/>
          <a:p>
            <a:pPr eaLnBrk="1" fontAlgn="auto" hangingPunct="1">
              <a:spcBef>
                <a:spcPts val="0"/>
              </a:spcBef>
              <a:spcAft>
                <a:spcPts val="0"/>
              </a:spcAft>
              <a:defRPr/>
            </a:pPr>
            <a:endParaRPr lang="zh-CN" altLang="en-US" dirty="0">
              <a:solidFill>
                <a:schemeClr val="bg1"/>
              </a:solidFill>
              <a:latin typeface="Arial" charset="0"/>
              <a:ea typeface="+mn-ea"/>
            </a:endParaRPr>
          </a:p>
        </p:txBody>
      </p:sp>
      <p:sp>
        <p:nvSpPr>
          <p:cNvPr id="33" name="Rectangle 8"/>
          <p:cNvSpPr>
            <a:spLocks noChangeArrowheads="1"/>
          </p:cNvSpPr>
          <p:nvPr userDrawn="1"/>
        </p:nvSpPr>
        <p:spPr bwMode="auto">
          <a:xfrm rot="10800000" flipV="1">
            <a:off x="6216650" y="6570663"/>
            <a:ext cx="5975350" cy="25400"/>
          </a:xfrm>
          <a:prstGeom prst="rect">
            <a:avLst/>
          </a:prstGeom>
          <a:gradFill>
            <a:gsLst>
              <a:gs pos="6000">
                <a:srgbClr val="003399"/>
              </a:gs>
              <a:gs pos="79000">
                <a:schemeClr val="bg1"/>
              </a:gs>
            </a:gsLst>
            <a:lin ang="0" scaled="1"/>
          </a:gradFill>
          <a:ln w="9525">
            <a:noFill/>
            <a:miter lim="800000"/>
            <a:headEnd/>
            <a:tailEnd/>
          </a:ln>
          <a:effectLst/>
        </p:spPr>
        <p:txBody>
          <a:bodyPr wrap="none" anchor="ctr"/>
          <a:lstStyle/>
          <a:p>
            <a:pPr eaLnBrk="1" fontAlgn="auto" hangingPunct="1">
              <a:spcBef>
                <a:spcPts val="0"/>
              </a:spcBef>
              <a:spcAft>
                <a:spcPts val="0"/>
              </a:spcAft>
              <a:defRPr/>
            </a:pPr>
            <a:endParaRPr lang="zh-CN" altLang="en-US" dirty="0">
              <a:solidFill>
                <a:schemeClr val="bg1"/>
              </a:solidFill>
              <a:latin typeface="Arial" charset="0"/>
              <a:ea typeface="+mn-ea"/>
            </a:endParaRPr>
          </a:p>
        </p:txBody>
      </p:sp>
      <p:sp>
        <p:nvSpPr>
          <p:cNvPr id="34" name="Rectangle 8"/>
          <p:cNvSpPr>
            <a:spLocks noChangeArrowheads="1"/>
          </p:cNvSpPr>
          <p:nvPr userDrawn="1"/>
        </p:nvSpPr>
        <p:spPr bwMode="auto">
          <a:xfrm rot="10800000" flipV="1">
            <a:off x="6216650" y="6657975"/>
            <a:ext cx="5975350" cy="25400"/>
          </a:xfrm>
          <a:prstGeom prst="rect">
            <a:avLst/>
          </a:prstGeom>
          <a:gradFill>
            <a:gsLst>
              <a:gs pos="6000">
                <a:srgbClr val="003399"/>
              </a:gs>
              <a:gs pos="79000">
                <a:schemeClr val="bg1"/>
              </a:gs>
            </a:gsLst>
            <a:lin ang="0" scaled="1"/>
          </a:gradFill>
          <a:ln w="9525">
            <a:noFill/>
            <a:miter lim="800000"/>
            <a:headEnd/>
            <a:tailEnd/>
          </a:ln>
          <a:effectLst/>
        </p:spPr>
        <p:txBody>
          <a:bodyPr wrap="none" anchor="ctr"/>
          <a:lstStyle/>
          <a:p>
            <a:pPr eaLnBrk="1" fontAlgn="auto" hangingPunct="1">
              <a:spcBef>
                <a:spcPts val="0"/>
              </a:spcBef>
              <a:spcAft>
                <a:spcPts val="0"/>
              </a:spcAft>
              <a:defRPr/>
            </a:pPr>
            <a:endParaRPr lang="zh-CN" altLang="en-US" dirty="0">
              <a:solidFill>
                <a:schemeClr val="bg1"/>
              </a:solidFill>
              <a:latin typeface="Arial" charset="0"/>
              <a:ea typeface="+mn-ea"/>
            </a:endParaRPr>
          </a:p>
        </p:txBody>
      </p:sp>
      <p:sp>
        <p:nvSpPr>
          <p:cNvPr id="1042" name="TextBox 34"/>
          <p:cNvSpPr txBox="1">
            <a:spLocks noChangeArrowheads="1"/>
          </p:cNvSpPr>
          <p:nvPr userDrawn="1"/>
        </p:nvSpPr>
        <p:spPr bwMode="auto">
          <a:xfrm>
            <a:off x="4706938" y="6459538"/>
            <a:ext cx="2779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defRPr/>
            </a:pPr>
            <a:r>
              <a:rPr lang="zh-CN" altLang="en-US" sz="2000">
                <a:solidFill>
                  <a:srgbClr val="003399"/>
                </a:solidFill>
                <a:latin typeface="华文行楷" pitchFamily="2" charset="-122"/>
                <a:ea typeface="华文行楷" pitchFamily="2" charset="-122"/>
              </a:rPr>
              <a:t>电  路  分  析  基  础</a:t>
            </a:r>
          </a:p>
        </p:txBody>
      </p:sp>
      <p:sp>
        <p:nvSpPr>
          <p:cNvPr id="1043" name="灯片编号占位符 2"/>
          <p:cNvSpPr txBox="1">
            <a:spLocks/>
          </p:cNvSpPr>
          <p:nvPr userDrawn="1"/>
        </p:nvSpPr>
        <p:spPr bwMode="auto">
          <a:xfrm>
            <a:off x="11303000" y="114300"/>
            <a:ext cx="620713"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fld id="{D8E1075F-121A-43F5-BF3D-AA5D8FFB2295}" type="slidenum">
              <a:rPr lang="zh-CN" altLang="en-US" smtClean="0">
                <a:solidFill>
                  <a:schemeClr val="bg1"/>
                </a:solidFill>
                <a:latin typeface="黑体" panose="02010609060101010101" pitchFamily="49" charset="-122"/>
                <a:ea typeface="黑体" panose="02010609060101010101" pitchFamily="49" charset="-122"/>
              </a:rPr>
              <a:pPr>
                <a:defRPr/>
              </a:pPr>
              <a:t>‹#›</a:t>
            </a:fld>
            <a:endParaRPr lang="zh-CN" altLang="en-US">
              <a:solidFill>
                <a:schemeClr val="bg1"/>
              </a:solidFill>
              <a:latin typeface="黑体" panose="02010609060101010101" pitchFamily="49" charset="-122"/>
              <a:ea typeface="黑体" panose="02010609060101010101" pitchFamily="49" charset="-122"/>
            </a:endParaRPr>
          </a:p>
        </p:txBody>
      </p:sp>
      <p:cxnSp>
        <p:nvCxnSpPr>
          <p:cNvPr id="43" name="直接连接符 42"/>
          <p:cNvCxnSpPr/>
          <p:nvPr userDrawn="1"/>
        </p:nvCxnSpPr>
        <p:spPr>
          <a:xfrm flipV="1">
            <a:off x="0" y="595313"/>
            <a:ext cx="12652375" cy="20637"/>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userDrawn="1"/>
        </p:nvCxnSpPr>
        <p:spPr>
          <a:xfrm rot="5400000">
            <a:off x="-3150393" y="3421856"/>
            <a:ext cx="6858000" cy="14287"/>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userDrawn="1"/>
        </p:nvCxnSpPr>
        <p:spPr>
          <a:xfrm rot="5400000">
            <a:off x="8546307" y="3442494"/>
            <a:ext cx="6858000" cy="14287"/>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userDrawn="1"/>
        </p:nvCxnSpPr>
        <p:spPr>
          <a:xfrm flipV="1">
            <a:off x="0" y="6462713"/>
            <a:ext cx="12652375" cy="20637"/>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393" r:id="rId1"/>
    <p:sldLayoutId id="2147484394" r:id="rId2"/>
    <p:sldLayoutId id="2147484395" r:id="rId3"/>
    <p:sldLayoutId id="2147484396" r:id="rId4"/>
    <p:sldLayoutId id="2147484397" r:id="rId5"/>
    <p:sldLayoutId id="2147484398" r:id="rId6"/>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文本占位符 2"/>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1488C4E-EEAF-424B-B50C-AAA59678B400}" type="datetimeFigureOut">
              <a:rPr lang="zh-CN" altLang="en-US"/>
              <a:pPr>
                <a:defRPr/>
              </a:pPr>
              <a:t>2023/12/24</a:t>
            </a:fld>
            <a:endParaRPr lang="zh-CN" altLang="en-US"/>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5BA3D64F-B939-4E42-B337-13D3BA4CEBAD}"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400" r:id="rId1"/>
    <p:sldLayoutId id="2147484401" r:id="rId2"/>
    <p:sldLayoutId id="2147484402" r:id="rId3"/>
    <p:sldLayoutId id="2147484403" r:id="rId4"/>
    <p:sldLayoutId id="2147484404" r:id="rId5"/>
    <p:sldLayoutId id="2147484405" r:id="rId6"/>
    <p:sldLayoutId id="2147484406" r:id="rId7"/>
    <p:sldLayoutId id="2147484407" r:id="rId8"/>
    <p:sldLayoutId id="2147484408" r:id="rId9"/>
    <p:sldLayoutId id="2147484409" r:id="rId10"/>
    <p:sldLayoutId id="214748441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8"/>
          <p:cNvSpPr>
            <a:spLocks noChangeArrowheads="1"/>
          </p:cNvSpPr>
          <p:nvPr userDrawn="1"/>
        </p:nvSpPr>
        <p:spPr bwMode="auto">
          <a:xfrm>
            <a:off x="6551613" y="0"/>
            <a:ext cx="5640387" cy="528638"/>
          </a:xfrm>
          <a:prstGeom prst="rect">
            <a:avLst/>
          </a:prstGeom>
          <a:solidFill>
            <a:srgbClr val="003399"/>
          </a:solidFill>
          <a:ln w="9525">
            <a:noFill/>
            <a:miter lim="800000"/>
            <a:headEnd/>
            <a:tailEnd/>
          </a:ln>
          <a:effectLst>
            <a:outerShdw blurRad="50800" dist="38100" dir="2700000" algn="tl" rotWithShape="0">
              <a:prstClr val="black">
                <a:alpha val="40000"/>
              </a:prstClr>
            </a:outerShdw>
          </a:effectLst>
        </p:spPr>
        <p:txBody>
          <a:bodyPr wrap="none" anchor="ctr"/>
          <a:lstStyle/>
          <a:p>
            <a:pPr eaLnBrk="1" fontAlgn="auto" hangingPunct="1">
              <a:spcBef>
                <a:spcPts val="0"/>
              </a:spcBef>
              <a:spcAft>
                <a:spcPts val="0"/>
              </a:spcAft>
              <a:defRPr/>
            </a:pPr>
            <a:endParaRPr lang="zh-CN" altLang="en-US" dirty="0">
              <a:solidFill>
                <a:prstClr val="white"/>
              </a:solidFill>
              <a:latin typeface="Arial" charset="0"/>
              <a:ea typeface="宋体"/>
            </a:endParaRPr>
          </a:p>
        </p:txBody>
      </p:sp>
      <p:sp>
        <p:nvSpPr>
          <p:cNvPr id="17" name="文本占位符 7"/>
          <p:cNvSpPr txBox="1">
            <a:spLocks/>
          </p:cNvSpPr>
          <p:nvPr userDrawn="1"/>
        </p:nvSpPr>
        <p:spPr>
          <a:xfrm>
            <a:off x="6076950" y="0"/>
            <a:ext cx="5816600" cy="52863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endParaRPr lang="zh-CN" altLang="en-US" dirty="0">
              <a:solidFill>
                <a:prstClr val="white"/>
              </a:solidFill>
            </a:endParaRPr>
          </a:p>
        </p:txBody>
      </p:sp>
      <p:sp>
        <p:nvSpPr>
          <p:cNvPr id="20" name="Rectangle 8"/>
          <p:cNvSpPr>
            <a:spLocks noChangeArrowheads="1"/>
          </p:cNvSpPr>
          <p:nvPr userDrawn="1"/>
        </p:nvSpPr>
        <p:spPr bwMode="auto">
          <a:xfrm flipV="1">
            <a:off x="0" y="6742113"/>
            <a:ext cx="5975350" cy="25400"/>
          </a:xfrm>
          <a:prstGeom prst="rect">
            <a:avLst/>
          </a:prstGeom>
          <a:gradFill flip="none" rotWithShape="1">
            <a:gsLst>
              <a:gs pos="6000">
                <a:srgbClr val="003399"/>
              </a:gs>
              <a:gs pos="79000">
                <a:schemeClr val="bg1"/>
              </a:gs>
            </a:gsLst>
            <a:lin ang="0" scaled="1"/>
            <a:tileRect/>
          </a:gradFill>
          <a:ln w="9525">
            <a:noFill/>
            <a:miter lim="800000"/>
            <a:headEnd/>
            <a:tailEnd/>
          </a:ln>
          <a:effectLst/>
        </p:spPr>
        <p:txBody>
          <a:bodyPr wrap="none" anchor="ctr"/>
          <a:lstStyle/>
          <a:p>
            <a:pPr eaLnBrk="1" fontAlgn="auto" hangingPunct="1">
              <a:spcBef>
                <a:spcPts val="0"/>
              </a:spcBef>
              <a:spcAft>
                <a:spcPts val="0"/>
              </a:spcAft>
              <a:defRPr/>
            </a:pPr>
            <a:endParaRPr lang="zh-CN" altLang="en-US" dirty="0">
              <a:solidFill>
                <a:prstClr val="white"/>
              </a:solidFill>
              <a:latin typeface="Arial" charset="0"/>
              <a:ea typeface="宋体"/>
            </a:endParaRPr>
          </a:p>
        </p:txBody>
      </p:sp>
      <p:sp>
        <p:nvSpPr>
          <p:cNvPr id="22" name="AutoShape 9"/>
          <p:cNvSpPr>
            <a:spLocks noChangeArrowheads="1"/>
          </p:cNvSpPr>
          <p:nvPr userDrawn="1"/>
        </p:nvSpPr>
        <p:spPr bwMode="auto">
          <a:xfrm rot="16200000" flipV="1">
            <a:off x="4740275" y="-2311400"/>
            <a:ext cx="528638" cy="5151438"/>
          </a:xfrm>
          <a:prstGeom prst="flowChartManualInput">
            <a:avLst/>
          </a:prstGeom>
          <a:solidFill>
            <a:srgbClr val="D3DDF9"/>
          </a:solidFill>
          <a:ln w="9525">
            <a:noFill/>
            <a:miter lim="800000"/>
            <a:headEnd/>
            <a:tailEnd/>
          </a:ln>
          <a:effectLst>
            <a:outerShdw blurRad="50800" dist="38100" dir="2700000" algn="tl" rotWithShape="0">
              <a:prstClr val="black">
                <a:alpha val="40000"/>
              </a:prstClr>
            </a:outerShdw>
          </a:effectLst>
        </p:spPr>
        <p:txBody>
          <a:bodyPr rot="10800000" vert="eaVert" wrap="none" anchor="ctr"/>
          <a:lstStyle/>
          <a:p>
            <a:pPr eaLnBrk="1" fontAlgn="auto" hangingPunct="1">
              <a:spcBef>
                <a:spcPts val="0"/>
              </a:spcBef>
              <a:spcAft>
                <a:spcPts val="0"/>
              </a:spcAft>
              <a:defRPr/>
            </a:pPr>
            <a:endParaRPr lang="zh-CN" altLang="en-US">
              <a:solidFill>
                <a:prstClr val="black"/>
              </a:solidFill>
              <a:latin typeface="Arial" charset="0"/>
              <a:ea typeface="宋体"/>
            </a:endParaRPr>
          </a:p>
        </p:txBody>
      </p:sp>
      <p:sp>
        <p:nvSpPr>
          <p:cNvPr id="23" name="文本占位符 7"/>
          <p:cNvSpPr txBox="1">
            <a:spLocks/>
          </p:cNvSpPr>
          <p:nvPr userDrawn="1"/>
        </p:nvSpPr>
        <p:spPr>
          <a:xfrm>
            <a:off x="2568575" y="6350"/>
            <a:ext cx="4179888" cy="49371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rgbClr val="FF0000"/>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endParaRPr lang="zh-CN" altLang="en-US" dirty="0">
              <a:solidFill>
                <a:srgbClr val="C00000"/>
              </a:solidFill>
            </a:endParaRPr>
          </a:p>
        </p:txBody>
      </p:sp>
      <p:sp>
        <p:nvSpPr>
          <p:cNvPr id="24" name="文本占位符 7"/>
          <p:cNvSpPr txBox="1">
            <a:spLocks/>
          </p:cNvSpPr>
          <p:nvPr userDrawn="1"/>
        </p:nvSpPr>
        <p:spPr>
          <a:xfrm>
            <a:off x="7537450" y="9525"/>
            <a:ext cx="4654550" cy="492125"/>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spcAft>
                <a:spcPts val="0"/>
              </a:spcAft>
              <a:defRPr/>
            </a:pPr>
            <a:endParaRPr lang="zh-CN" altLang="en-US" dirty="0">
              <a:solidFill>
                <a:prstClr val="white"/>
              </a:solidFill>
            </a:endParaRPr>
          </a:p>
        </p:txBody>
      </p:sp>
      <p:sp>
        <p:nvSpPr>
          <p:cNvPr id="3080" name="Rectangle 9"/>
          <p:cNvSpPr>
            <a:spLocks noChangeArrowheads="1"/>
          </p:cNvSpPr>
          <p:nvPr userDrawn="1"/>
        </p:nvSpPr>
        <p:spPr bwMode="auto">
          <a:xfrm>
            <a:off x="0" y="0"/>
            <a:ext cx="287338" cy="71438"/>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defRPr/>
            </a:pPr>
            <a:endParaRPr lang="zh-CN" altLang="en-US">
              <a:solidFill>
                <a:srgbClr val="000000"/>
              </a:solidFill>
            </a:endParaRPr>
          </a:p>
        </p:txBody>
      </p:sp>
      <p:sp>
        <p:nvSpPr>
          <p:cNvPr id="3081" name="Rectangle 9"/>
          <p:cNvSpPr>
            <a:spLocks noChangeArrowheads="1"/>
          </p:cNvSpPr>
          <p:nvPr userDrawn="1"/>
        </p:nvSpPr>
        <p:spPr bwMode="auto">
          <a:xfrm>
            <a:off x="0" y="120650"/>
            <a:ext cx="287338" cy="71438"/>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defRPr/>
            </a:pPr>
            <a:endParaRPr lang="zh-CN" altLang="en-US">
              <a:solidFill>
                <a:srgbClr val="000000"/>
              </a:solidFill>
            </a:endParaRPr>
          </a:p>
        </p:txBody>
      </p:sp>
      <p:sp>
        <p:nvSpPr>
          <p:cNvPr id="3082" name="Rectangle 9"/>
          <p:cNvSpPr>
            <a:spLocks noChangeArrowheads="1"/>
          </p:cNvSpPr>
          <p:nvPr userDrawn="1"/>
        </p:nvSpPr>
        <p:spPr bwMode="auto">
          <a:xfrm>
            <a:off x="0" y="241300"/>
            <a:ext cx="287338" cy="71438"/>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defRPr/>
            </a:pPr>
            <a:endParaRPr lang="zh-CN" altLang="en-US">
              <a:solidFill>
                <a:srgbClr val="000000"/>
              </a:solidFill>
            </a:endParaRPr>
          </a:p>
        </p:txBody>
      </p:sp>
      <p:sp>
        <p:nvSpPr>
          <p:cNvPr id="3083" name="Rectangle 9"/>
          <p:cNvSpPr>
            <a:spLocks noChangeArrowheads="1"/>
          </p:cNvSpPr>
          <p:nvPr userDrawn="1"/>
        </p:nvSpPr>
        <p:spPr bwMode="auto">
          <a:xfrm>
            <a:off x="0" y="361950"/>
            <a:ext cx="287338" cy="71438"/>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defRPr/>
            </a:pPr>
            <a:endParaRPr lang="zh-CN" altLang="en-US">
              <a:solidFill>
                <a:srgbClr val="000000"/>
              </a:solidFill>
            </a:endParaRPr>
          </a:p>
        </p:txBody>
      </p:sp>
      <p:sp>
        <p:nvSpPr>
          <p:cNvPr id="3084" name="Rectangle 9"/>
          <p:cNvSpPr>
            <a:spLocks noChangeArrowheads="1"/>
          </p:cNvSpPr>
          <p:nvPr userDrawn="1"/>
        </p:nvSpPr>
        <p:spPr bwMode="auto">
          <a:xfrm>
            <a:off x="0" y="482600"/>
            <a:ext cx="287338" cy="71438"/>
          </a:xfrm>
          <a:prstGeom prst="rect">
            <a:avLst/>
          </a:prstGeom>
          <a:solidFill>
            <a:srgbClr val="0033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defRPr/>
            </a:pPr>
            <a:endParaRPr lang="zh-CN" altLang="en-US">
              <a:solidFill>
                <a:srgbClr val="000000"/>
              </a:solidFill>
            </a:endParaRPr>
          </a:p>
        </p:txBody>
      </p:sp>
      <p:sp>
        <p:nvSpPr>
          <p:cNvPr id="30" name="Rectangle 8"/>
          <p:cNvSpPr>
            <a:spLocks noChangeArrowheads="1"/>
          </p:cNvSpPr>
          <p:nvPr userDrawn="1"/>
        </p:nvSpPr>
        <p:spPr bwMode="auto">
          <a:xfrm flipV="1">
            <a:off x="0" y="6570663"/>
            <a:ext cx="5975350" cy="23812"/>
          </a:xfrm>
          <a:prstGeom prst="rect">
            <a:avLst/>
          </a:prstGeom>
          <a:gradFill flip="none" rotWithShape="1">
            <a:gsLst>
              <a:gs pos="6000">
                <a:srgbClr val="003399"/>
              </a:gs>
              <a:gs pos="79000">
                <a:schemeClr val="bg1"/>
              </a:gs>
            </a:gsLst>
            <a:lin ang="0" scaled="1"/>
            <a:tileRect/>
          </a:gradFill>
          <a:ln w="9525">
            <a:noFill/>
            <a:miter lim="800000"/>
            <a:headEnd/>
            <a:tailEnd/>
          </a:ln>
          <a:effectLst/>
        </p:spPr>
        <p:txBody>
          <a:bodyPr wrap="none" anchor="ctr"/>
          <a:lstStyle/>
          <a:p>
            <a:pPr eaLnBrk="1" fontAlgn="auto" hangingPunct="1">
              <a:spcBef>
                <a:spcPts val="0"/>
              </a:spcBef>
              <a:spcAft>
                <a:spcPts val="0"/>
              </a:spcAft>
              <a:defRPr/>
            </a:pPr>
            <a:endParaRPr lang="zh-CN" altLang="en-US" dirty="0">
              <a:solidFill>
                <a:prstClr val="white"/>
              </a:solidFill>
              <a:latin typeface="Arial" charset="0"/>
              <a:ea typeface="宋体"/>
            </a:endParaRPr>
          </a:p>
        </p:txBody>
      </p:sp>
      <p:sp>
        <p:nvSpPr>
          <p:cNvPr id="31" name="Rectangle 8"/>
          <p:cNvSpPr>
            <a:spLocks noChangeArrowheads="1"/>
          </p:cNvSpPr>
          <p:nvPr userDrawn="1"/>
        </p:nvSpPr>
        <p:spPr bwMode="auto">
          <a:xfrm flipV="1">
            <a:off x="0" y="6656388"/>
            <a:ext cx="5975350" cy="25400"/>
          </a:xfrm>
          <a:prstGeom prst="rect">
            <a:avLst/>
          </a:prstGeom>
          <a:gradFill flip="none" rotWithShape="1">
            <a:gsLst>
              <a:gs pos="6000">
                <a:srgbClr val="003399"/>
              </a:gs>
              <a:gs pos="79000">
                <a:schemeClr val="bg1"/>
              </a:gs>
            </a:gsLst>
            <a:lin ang="0" scaled="1"/>
            <a:tileRect/>
          </a:gradFill>
          <a:ln w="9525">
            <a:noFill/>
            <a:miter lim="800000"/>
            <a:headEnd/>
            <a:tailEnd/>
          </a:ln>
          <a:effectLst/>
        </p:spPr>
        <p:txBody>
          <a:bodyPr wrap="none" anchor="ctr"/>
          <a:lstStyle/>
          <a:p>
            <a:pPr eaLnBrk="1" fontAlgn="auto" hangingPunct="1">
              <a:spcBef>
                <a:spcPts val="0"/>
              </a:spcBef>
              <a:spcAft>
                <a:spcPts val="0"/>
              </a:spcAft>
              <a:defRPr/>
            </a:pPr>
            <a:endParaRPr lang="zh-CN" altLang="en-US" dirty="0">
              <a:solidFill>
                <a:prstClr val="white"/>
              </a:solidFill>
              <a:latin typeface="Arial" charset="0"/>
              <a:ea typeface="宋体"/>
            </a:endParaRPr>
          </a:p>
        </p:txBody>
      </p:sp>
      <p:sp>
        <p:nvSpPr>
          <p:cNvPr id="32" name="Rectangle 8"/>
          <p:cNvSpPr>
            <a:spLocks noChangeArrowheads="1"/>
          </p:cNvSpPr>
          <p:nvPr userDrawn="1"/>
        </p:nvSpPr>
        <p:spPr bwMode="auto">
          <a:xfrm rot="10800000" flipV="1">
            <a:off x="6216650" y="6743700"/>
            <a:ext cx="5975350" cy="25400"/>
          </a:xfrm>
          <a:prstGeom prst="rect">
            <a:avLst/>
          </a:prstGeom>
          <a:gradFill>
            <a:gsLst>
              <a:gs pos="6000">
                <a:srgbClr val="003399"/>
              </a:gs>
              <a:gs pos="79000">
                <a:schemeClr val="bg1"/>
              </a:gs>
            </a:gsLst>
            <a:lin ang="0" scaled="1"/>
          </a:gradFill>
          <a:ln w="9525">
            <a:noFill/>
            <a:miter lim="800000"/>
            <a:headEnd/>
            <a:tailEnd/>
          </a:ln>
          <a:effectLst/>
        </p:spPr>
        <p:txBody>
          <a:bodyPr wrap="none" anchor="ctr"/>
          <a:lstStyle/>
          <a:p>
            <a:pPr eaLnBrk="1" fontAlgn="auto" hangingPunct="1">
              <a:spcBef>
                <a:spcPts val="0"/>
              </a:spcBef>
              <a:spcAft>
                <a:spcPts val="0"/>
              </a:spcAft>
              <a:defRPr/>
            </a:pPr>
            <a:endParaRPr lang="zh-CN" altLang="en-US" dirty="0">
              <a:solidFill>
                <a:prstClr val="white"/>
              </a:solidFill>
              <a:latin typeface="Arial" charset="0"/>
              <a:ea typeface="宋体"/>
            </a:endParaRPr>
          </a:p>
        </p:txBody>
      </p:sp>
      <p:sp>
        <p:nvSpPr>
          <p:cNvPr id="33" name="Rectangle 8"/>
          <p:cNvSpPr>
            <a:spLocks noChangeArrowheads="1"/>
          </p:cNvSpPr>
          <p:nvPr userDrawn="1"/>
        </p:nvSpPr>
        <p:spPr bwMode="auto">
          <a:xfrm rot="10800000" flipV="1">
            <a:off x="6216650" y="6570663"/>
            <a:ext cx="5975350" cy="25400"/>
          </a:xfrm>
          <a:prstGeom prst="rect">
            <a:avLst/>
          </a:prstGeom>
          <a:gradFill>
            <a:gsLst>
              <a:gs pos="6000">
                <a:srgbClr val="003399"/>
              </a:gs>
              <a:gs pos="79000">
                <a:schemeClr val="bg1"/>
              </a:gs>
            </a:gsLst>
            <a:lin ang="0" scaled="1"/>
          </a:gradFill>
          <a:ln w="9525">
            <a:noFill/>
            <a:miter lim="800000"/>
            <a:headEnd/>
            <a:tailEnd/>
          </a:ln>
          <a:effectLst/>
        </p:spPr>
        <p:txBody>
          <a:bodyPr wrap="none" anchor="ctr"/>
          <a:lstStyle/>
          <a:p>
            <a:pPr eaLnBrk="1" fontAlgn="auto" hangingPunct="1">
              <a:spcBef>
                <a:spcPts val="0"/>
              </a:spcBef>
              <a:spcAft>
                <a:spcPts val="0"/>
              </a:spcAft>
              <a:defRPr/>
            </a:pPr>
            <a:endParaRPr lang="zh-CN" altLang="en-US" dirty="0">
              <a:solidFill>
                <a:prstClr val="white"/>
              </a:solidFill>
              <a:latin typeface="Arial" charset="0"/>
              <a:ea typeface="宋体"/>
            </a:endParaRPr>
          </a:p>
        </p:txBody>
      </p:sp>
      <p:sp>
        <p:nvSpPr>
          <p:cNvPr id="34" name="Rectangle 8"/>
          <p:cNvSpPr>
            <a:spLocks noChangeArrowheads="1"/>
          </p:cNvSpPr>
          <p:nvPr userDrawn="1"/>
        </p:nvSpPr>
        <p:spPr bwMode="auto">
          <a:xfrm rot="10800000" flipV="1">
            <a:off x="6216650" y="6657975"/>
            <a:ext cx="5975350" cy="25400"/>
          </a:xfrm>
          <a:prstGeom prst="rect">
            <a:avLst/>
          </a:prstGeom>
          <a:gradFill>
            <a:gsLst>
              <a:gs pos="6000">
                <a:srgbClr val="003399"/>
              </a:gs>
              <a:gs pos="79000">
                <a:schemeClr val="bg1"/>
              </a:gs>
            </a:gsLst>
            <a:lin ang="0" scaled="1"/>
          </a:gradFill>
          <a:ln w="9525">
            <a:noFill/>
            <a:miter lim="800000"/>
            <a:headEnd/>
            <a:tailEnd/>
          </a:ln>
          <a:effectLst/>
        </p:spPr>
        <p:txBody>
          <a:bodyPr wrap="none" anchor="ctr"/>
          <a:lstStyle/>
          <a:p>
            <a:pPr eaLnBrk="1" fontAlgn="auto" hangingPunct="1">
              <a:spcBef>
                <a:spcPts val="0"/>
              </a:spcBef>
              <a:spcAft>
                <a:spcPts val="0"/>
              </a:spcAft>
              <a:defRPr/>
            </a:pPr>
            <a:endParaRPr lang="zh-CN" altLang="en-US" dirty="0">
              <a:solidFill>
                <a:prstClr val="white"/>
              </a:solidFill>
              <a:latin typeface="Arial" charset="0"/>
              <a:ea typeface="宋体"/>
            </a:endParaRPr>
          </a:p>
        </p:txBody>
      </p:sp>
      <p:sp>
        <p:nvSpPr>
          <p:cNvPr id="1042" name="TextBox 34"/>
          <p:cNvSpPr txBox="1">
            <a:spLocks noChangeArrowheads="1"/>
          </p:cNvSpPr>
          <p:nvPr userDrawn="1"/>
        </p:nvSpPr>
        <p:spPr bwMode="auto">
          <a:xfrm>
            <a:off x="4706938" y="6457950"/>
            <a:ext cx="2779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defRPr/>
            </a:pPr>
            <a:r>
              <a:rPr lang="zh-CN" altLang="en-US" sz="2000">
                <a:solidFill>
                  <a:srgbClr val="003399"/>
                </a:solidFill>
                <a:latin typeface="华文行楷" pitchFamily="2" charset="-122"/>
                <a:ea typeface="华文行楷" pitchFamily="2" charset="-122"/>
              </a:rPr>
              <a:t>电  路  分  析  基  础</a:t>
            </a:r>
          </a:p>
        </p:txBody>
      </p:sp>
      <p:cxnSp>
        <p:nvCxnSpPr>
          <p:cNvPr id="36" name="直接连接符 35"/>
          <p:cNvCxnSpPr/>
          <p:nvPr userDrawn="1"/>
        </p:nvCxnSpPr>
        <p:spPr>
          <a:xfrm flipV="1">
            <a:off x="0" y="595313"/>
            <a:ext cx="12652375" cy="20637"/>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userDrawn="1"/>
        </p:nvCxnSpPr>
        <p:spPr>
          <a:xfrm rot="5400000">
            <a:off x="-3150393" y="3421856"/>
            <a:ext cx="6858000" cy="14287"/>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userDrawn="1"/>
        </p:nvCxnSpPr>
        <p:spPr>
          <a:xfrm rot="5400000">
            <a:off x="8546307" y="3442494"/>
            <a:ext cx="6858000" cy="14287"/>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userDrawn="1"/>
        </p:nvCxnSpPr>
        <p:spPr>
          <a:xfrm flipV="1">
            <a:off x="0" y="6462713"/>
            <a:ext cx="12652375" cy="20637"/>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pic>
        <p:nvPicPr>
          <p:cNvPr id="3095" name="Picture 2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12750" y="17463"/>
            <a:ext cx="1973263"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411" r:id="rId1"/>
    <p:sldLayoutId id="2147484412" r:id="rId2"/>
    <p:sldLayoutId id="2147484413" r:id="rId3"/>
    <p:sldLayoutId id="2147484414" r:id="rId4"/>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pitchFamily="34" charset="0"/>
          <a:ea typeface="宋体" charset="-122"/>
        </a:defRPr>
      </a:lvl2pPr>
      <a:lvl3pPr algn="l" rtl="0" eaLnBrk="0" fontAlgn="base" hangingPunct="0">
        <a:lnSpc>
          <a:spcPct val="90000"/>
        </a:lnSpc>
        <a:spcBef>
          <a:spcPct val="0"/>
        </a:spcBef>
        <a:spcAft>
          <a:spcPct val="0"/>
        </a:spcAft>
        <a:defRPr sz="4400">
          <a:solidFill>
            <a:schemeClr val="tx1"/>
          </a:solidFill>
          <a:latin typeface="Calibri" pitchFamily="34" charset="0"/>
          <a:ea typeface="宋体" charset="-122"/>
        </a:defRPr>
      </a:lvl3pPr>
      <a:lvl4pPr algn="l" rtl="0" eaLnBrk="0" fontAlgn="base" hangingPunct="0">
        <a:lnSpc>
          <a:spcPct val="90000"/>
        </a:lnSpc>
        <a:spcBef>
          <a:spcPct val="0"/>
        </a:spcBef>
        <a:spcAft>
          <a:spcPct val="0"/>
        </a:spcAft>
        <a:defRPr sz="4400">
          <a:solidFill>
            <a:schemeClr val="tx1"/>
          </a:solidFill>
          <a:latin typeface="Calibri" pitchFamily="34" charset="0"/>
          <a:ea typeface="宋体" charset="-122"/>
        </a:defRPr>
      </a:lvl4pPr>
      <a:lvl5pPr algn="l" rtl="0" eaLnBrk="0" fontAlgn="base" hangingPunct="0">
        <a:lnSpc>
          <a:spcPct val="90000"/>
        </a:lnSpc>
        <a:spcBef>
          <a:spcPct val="0"/>
        </a:spcBef>
        <a:spcAft>
          <a:spcPct val="0"/>
        </a:spcAft>
        <a:defRPr sz="4400">
          <a:solidFill>
            <a:schemeClr val="tx1"/>
          </a:solidFill>
          <a:latin typeface="Calibri"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标题占位符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99" name="文本占位符 2"/>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0BA0689-8464-4C0C-BAFB-8D03D1F32A64}" type="datetimeFigureOut">
              <a:rPr lang="zh-CN" altLang="en-US"/>
              <a:pPr>
                <a:defRPr/>
              </a:pPr>
              <a:t>2023/12/24</a:t>
            </a:fld>
            <a:endParaRPr lang="zh-CN" altLang="en-US"/>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49E1869F-87E3-4BCF-B7E3-86493198D03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415" r:id="rId1"/>
    <p:sldLayoutId id="2147484416" r:id="rId2"/>
    <p:sldLayoutId id="2147484417" r:id="rId3"/>
    <p:sldLayoutId id="2147484418" r:id="rId4"/>
    <p:sldLayoutId id="2147484419" r:id="rId5"/>
    <p:sldLayoutId id="2147484420" r:id="rId6"/>
    <p:sldLayoutId id="2147484421" r:id="rId7"/>
    <p:sldLayoutId id="2147484422" r:id="rId8"/>
    <p:sldLayoutId id="2147484423" r:id="rId9"/>
    <p:sldLayoutId id="2147484424" r:id="rId10"/>
    <p:sldLayoutId id="2147484425"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848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a:t>
            </a:r>
            <a:r>
              <a:rPr kumimoji="1" lang="zh-CN" altLang="en-US" sz="4000" b="1"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Wingdings" panose="05000000000000000000" pitchFamily="2" charset="2"/>
              </a:rPr>
              <a:t>电容器的基本概念</a:t>
            </a:r>
            <a:endParaRPr kumimoji="1" lang="zh-CN" altLang="en-US" sz="40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6196" name="Rectangle 4"/>
          <p:cNvSpPr>
            <a:spLocks noChangeArrowheads="1"/>
          </p:cNvSpPr>
          <p:nvPr/>
        </p:nvSpPr>
        <p:spPr bwMode="auto">
          <a:xfrm>
            <a:off x="814388" y="2083929"/>
            <a:ext cx="4572000" cy="1293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1.1</a:t>
            </a:r>
            <a:r>
              <a:rPr lang="zh-CN" altLang="en-US"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电容器的定义</a:t>
            </a:r>
            <a:r>
              <a:rPr lang="en-US" altLang="zh-CN"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电容器是一种能够够储存电荷和电能的元件，它由两个相互靠近的金属电极板，中间夹一层电介质构成。</a:t>
            </a:r>
            <a:endPar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6197" name="Rectangle 5"/>
          <p:cNvSpPr>
            <a:spLocks noChangeArrowheads="1"/>
          </p:cNvSpPr>
          <p:nvPr/>
        </p:nvSpPr>
        <p:spPr bwMode="auto">
          <a:xfrm>
            <a:off x="814388" y="3555095"/>
            <a:ext cx="7370824" cy="3302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lang="en-US" altLang="zh-CN"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1.2</a:t>
            </a:r>
            <a:r>
              <a:rPr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电容器的工作原理</a:t>
            </a:r>
            <a:r>
              <a:rPr lang="en-US" altLang="zh-CN"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rgbClr val="FF0000"/>
                </a:solidFill>
                <a:latin typeface="Times New Roman" panose="02020603050405020304" pitchFamily="18" charset="0"/>
                <a:cs typeface="Times New Roman" panose="02020603050405020304" pitchFamily="18" charset="0"/>
              </a:rPr>
              <a:t>电容器的工作原理是通过在两个金属板上施加一个直流或交流电压，使得其中一个金属板带有正电荷，另一个金属板带有负电荷。这样就形成了一个静止的静电场，使得两个金属板之间存在着一定的势差。当外界给予这个静态系统一个交流或或脉冲信号时，就会产生交变的静态场，使得两个金属板之间不断地充放电，从而而储存和释放能量。</a:t>
            </a:r>
          </a:p>
          <a:p>
            <a:pPr eaLnBrk="1" hangingPunct="1">
              <a:lnSpc>
                <a:spcPct val="150000"/>
              </a:lnSpc>
              <a:spcBef>
                <a:spcPct val="20000"/>
              </a:spcBef>
              <a:buSzPct val="90000"/>
            </a:pP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pic>
        <p:nvPicPr>
          <p:cNvPr id="12" name="图片 11">
            <a:extLst>
              <a:ext uri="{FF2B5EF4-FFF2-40B4-BE49-F238E27FC236}">
                <a16:creationId xmlns:a16="http://schemas.microsoft.com/office/drawing/2014/main" id="{9863E10F-0403-0CAC-C8BE-AADA63FE0E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2765" y="664424"/>
            <a:ext cx="3542190" cy="3074480"/>
          </a:xfrm>
          <a:prstGeom prst="rect">
            <a:avLst/>
          </a:prstGeom>
        </p:spPr>
      </p:pic>
    </p:spTree>
    <p:extLst>
      <p:ext uri="{BB962C8B-B14F-4D97-AF65-F5344CB8AC3E}">
        <p14:creationId xmlns:p14="http://schemas.microsoft.com/office/powerpoint/2010/main" val="19441718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07769" y="874713"/>
            <a:ext cx="9920288" cy="61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lang="en-US" altLang="zh-CN" sz="2800" b="1" dirty="0">
                <a:solidFill>
                  <a:srgbClr val="C00000"/>
                </a:solidFill>
                <a:latin typeface="微软雅黑" panose="020B0503020204020204" pitchFamily="34" charset="-122"/>
                <a:ea typeface="微软雅黑" panose="020B0503020204020204" pitchFamily="34" charset="-122"/>
              </a:rPr>
              <a:t>1.3</a:t>
            </a:r>
            <a:r>
              <a:rPr lang="zh-CN" altLang="en-US" sz="2800" b="1" dirty="0">
                <a:solidFill>
                  <a:srgbClr val="C00000"/>
                </a:solidFill>
                <a:latin typeface="微软雅黑" panose="020B0503020204020204" pitchFamily="34" charset="-122"/>
                <a:ea typeface="微软雅黑" panose="020B0503020204020204" pitchFamily="34" charset="-122"/>
              </a:rPr>
              <a:t>电容器的作用</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943515" y="2139518"/>
            <a:ext cx="4572000" cy="160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dirty="0">
                <a:solidFill>
                  <a:srgbClr val="FF0000"/>
                </a:solidFill>
              </a:rPr>
              <a:t>1)</a:t>
            </a:r>
            <a:r>
              <a:rPr lang="zh-CN" altLang="zh-CN" dirty="0">
                <a:solidFill>
                  <a:srgbClr val="FF0000"/>
                </a:solidFill>
              </a:rPr>
              <a:t>作为滤波器：通过改变外界信号的频率或幅度，可以选择性地通过或阻止某些频率成分，从而实现对信号的处理和调节。</a:t>
            </a:r>
          </a:p>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136197" name="Rectangle 5"/>
          <p:cNvSpPr>
            <a:spLocks noChangeArrowheads="1"/>
          </p:cNvSpPr>
          <p:nvPr/>
        </p:nvSpPr>
        <p:spPr bwMode="auto">
          <a:xfrm>
            <a:off x="1007769" y="3649878"/>
            <a:ext cx="5281612" cy="2333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lang="en-US" altLang="zh-CN" dirty="0">
                <a:solidFill>
                  <a:srgbClr val="FF0000"/>
                </a:solidFill>
              </a:rPr>
              <a:t>2)</a:t>
            </a:r>
            <a:r>
              <a:rPr lang="zh-CN" altLang="zh-CN" dirty="0">
                <a:solidFill>
                  <a:srgbClr val="FF0000"/>
                </a:solidFill>
              </a:rPr>
              <a:t>作为</a:t>
            </a:r>
            <a:r>
              <a:rPr lang="zh-CN" altLang="en-US" dirty="0">
                <a:solidFill>
                  <a:srgbClr val="FF0000"/>
                </a:solidFill>
              </a:rPr>
              <a:t>耦合</a:t>
            </a:r>
            <a:r>
              <a:rPr lang="zh-CN" altLang="zh-CN" dirty="0">
                <a:solidFill>
                  <a:srgbClr val="FF0000"/>
                </a:solidFill>
              </a:rPr>
              <a:t>器</a:t>
            </a:r>
            <a:r>
              <a:rPr lang="en-US" altLang="zh-CN" dirty="0">
                <a:solidFill>
                  <a:srgbClr val="FF0000"/>
                </a:solidFill>
              </a:rPr>
              <a:t>:</a:t>
            </a:r>
            <a:r>
              <a:rPr lang="zh-CN" altLang="zh-CN" dirty="0">
                <a:solidFill>
                  <a:srgbClr val="FF0000"/>
                </a:solidFill>
              </a:rPr>
              <a:t>通过在两个不同阻抗或不同信号源之间串联一个可变的阻值元件（如可调谐振荡器），可以实现对信号源之间的隔离、匹配、延迟、反馈等功能。</a:t>
            </a:r>
          </a:p>
          <a:p>
            <a:pPr eaLnBrk="1" hangingPunct="1">
              <a:lnSpc>
                <a:spcPct val="150000"/>
              </a:lnSpc>
              <a:spcBef>
                <a:spcPct val="20000"/>
              </a:spcBef>
              <a:buSzPct val="90000"/>
            </a:pP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pic>
        <p:nvPicPr>
          <p:cNvPr id="4" name="图片 3">
            <a:extLst>
              <a:ext uri="{FF2B5EF4-FFF2-40B4-BE49-F238E27FC236}">
                <a16:creationId xmlns:a16="http://schemas.microsoft.com/office/drawing/2014/main" id="{BEA7B8D7-B936-379A-E500-B88FC5287A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4237" y="1389710"/>
            <a:ext cx="3124881" cy="2039290"/>
          </a:xfrm>
          <a:prstGeom prst="rect">
            <a:avLst/>
          </a:prstGeom>
        </p:spPr>
      </p:pic>
      <p:pic>
        <p:nvPicPr>
          <p:cNvPr id="7" name="图片 6">
            <a:extLst>
              <a:ext uri="{FF2B5EF4-FFF2-40B4-BE49-F238E27FC236}">
                <a16:creationId xmlns:a16="http://schemas.microsoft.com/office/drawing/2014/main" id="{7B164935-60E4-5867-FC20-B6A38FDA6C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3740013"/>
            <a:ext cx="2552700" cy="2352675"/>
          </a:xfrm>
          <a:prstGeom prst="rect">
            <a:avLst/>
          </a:prstGeom>
        </p:spPr>
      </p:pic>
    </p:spTree>
    <p:extLst>
      <p:ext uri="{BB962C8B-B14F-4D97-AF65-F5344CB8AC3E}">
        <p14:creationId xmlns:p14="http://schemas.microsoft.com/office/powerpoint/2010/main" val="19358406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739329" y="1076909"/>
            <a:ext cx="9580561" cy="133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lang="en-US" altLang="zh-CN" dirty="0">
                <a:solidFill>
                  <a:srgbClr val="FF0000"/>
                </a:solidFill>
              </a:rPr>
              <a:t>3)</a:t>
            </a:r>
            <a:r>
              <a:rPr lang="zh-CN" altLang="zh-CN" dirty="0">
                <a:solidFill>
                  <a:srgbClr val="FF0000"/>
                </a:solidFill>
              </a:rPr>
              <a:t>作为积分器</a:t>
            </a:r>
            <a:r>
              <a:rPr lang="en-US" altLang="zh-CN" dirty="0">
                <a:solidFill>
                  <a:srgbClr val="FF0000"/>
                </a:solidFill>
              </a:rPr>
              <a:t>:</a:t>
            </a:r>
            <a:r>
              <a:rPr lang="zh-CN" alt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通过将输入信号与一个高阻抗元件（如无源二极管）串联，并在其两端加上一个低阻抗元件（如无源二极管），可以实现对输入信号进行积分运算，并输出积分后的结果。</a:t>
            </a:r>
          </a:p>
          <a:p>
            <a:pPr eaLnBrk="1" hangingPunct="1">
              <a:lnSpc>
                <a:spcPct val="130000"/>
              </a:lnSpc>
              <a:spcBef>
                <a:spcPct val="20000"/>
              </a:spcBef>
              <a:buSzPct val="90000"/>
            </a:pPr>
            <a:endParaRPr kumimoji="1" lang="zh-CN" altLang="en-US" sz="2400" b="1" dirty="0">
              <a:solidFill>
                <a:srgbClr val="FF0000"/>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739329" y="2183907"/>
            <a:ext cx="9505502" cy="124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dirty="0">
                <a:solidFill>
                  <a:srgbClr val="FF0000"/>
                </a:solidFill>
              </a:rPr>
              <a:t>4)</a:t>
            </a:r>
            <a:r>
              <a:rPr lang="zh-CN" altLang="zh-CN" dirty="0">
                <a:solidFill>
                  <a:srgbClr val="FF0000"/>
                </a:solidFill>
              </a:rPr>
              <a:t>作为微分器</a:t>
            </a:r>
            <a:r>
              <a:rPr lang="en-US" altLang="zh-CN" dirty="0">
                <a:solidFill>
                  <a:srgbClr val="FF0000"/>
                </a:solidFill>
              </a:rPr>
              <a:t>:</a:t>
            </a:r>
            <a:r>
              <a:rPr lang="zh-CN" altLang="zh-CN" dirty="0">
                <a:solidFill>
                  <a:srgbClr val="FF0000"/>
                </a:solidFill>
              </a:rPr>
              <a:t>通过将输入信号与一个低阻抗元件（如无源二极管）串联，并在其两端加上一个高阻抗元件（如无源二极管），可以实现对输入信号进行微分运算，并输出微分后的结果。</a:t>
            </a:r>
          </a:p>
          <a:p>
            <a:pPr eaLnBrk="1" hangingPunct="1">
              <a:lnSpc>
                <a:spcPct val="130000"/>
              </a:lnSpc>
            </a:pP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136197" name="Rectangle 5"/>
          <p:cNvSpPr>
            <a:spLocks noChangeArrowheads="1"/>
          </p:cNvSpPr>
          <p:nvPr/>
        </p:nvSpPr>
        <p:spPr bwMode="auto">
          <a:xfrm>
            <a:off x="739329" y="3232726"/>
            <a:ext cx="9430443" cy="1013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lang="en-US" altLang="zh-CN" dirty="0">
                <a:solidFill>
                  <a:srgbClr val="FF0000"/>
                </a:solidFill>
              </a:rPr>
              <a:t>5)</a:t>
            </a:r>
            <a:r>
              <a:rPr lang="zh-CN" altLang="zh-CN" dirty="0">
                <a:solidFill>
                  <a:srgbClr val="FF0000"/>
                </a:solidFill>
              </a:rPr>
              <a:t>作为稳压器</a:t>
            </a:r>
            <a:r>
              <a:rPr lang="en-US" altLang="zh-CN" dirty="0">
                <a:solidFill>
                  <a:srgbClr val="FF0000"/>
                </a:solidFill>
              </a:rPr>
              <a:t>:</a:t>
            </a:r>
            <a:r>
              <a:rPr lang="zh-CN" altLang="zh-CN" dirty="0">
                <a:solidFill>
                  <a:srgbClr val="FF0000"/>
                </a:solidFill>
              </a:rPr>
              <a:t>通过利用内部或外部反馈回路来调节输出端口与参考端口之间的差值，从而保持输出端口恒定地接近参考端口所需的稳定值。</a:t>
            </a:r>
            <a:endParaRPr kumimoji="1"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6" name="Rectangle 4">
            <a:extLst>
              <a:ext uri="{FF2B5EF4-FFF2-40B4-BE49-F238E27FC236}">
                <a16:creationId xmlns:a16="http://schemas.microsoft.com/office/drawing/2014/main" id="{B9245E40-4576-6CC4-33D7-6C38846B4931}"/>
              </a:ext>
            </a:extLst>
          </p:cNvPr>
          <p:cNvSpPr>
            <a:spLocks noChangeArrowheads="1"/>
          </p:cNvSpPr>
          <p:nvPr/>
        </p:nvSpPr>
        <p:spPr bwMode="auto">
          <a:xfrm>
            <a:off x="739329" y="4284298"/>
            <a:ext cx="9505502" cy="156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6)</a:t>
            </a:r>
            <a:r>
              <a:rPr lang="zh-CN" altLang="zh-CN" dirty="0">
                <a:solidFill>
                  <a:srgbClr val="FF0000"/>
                </a:solidFill>
              </a:rPr>
              <a:t>作为旁路器</a:t>
            </a:r>
            <a:r>
              <a:rPr lang="en-US" altLang="zh-CN" dirty="0">
                <a:solidFill>
                  <a:srgbClr val="FF0000"/>
                </a:solidFill>
              </a:rPr>
              <a:t>:</a:t>
            </a:r>
            <a:r>
              <a:rPr lang="zh-CN" altLang="zh-CN" dirty="0">
                <a:solidFill>
                  <a:srgbClr val="FF0000"/>
                </a:solidFill>
              </a:rPr>
              <a:t>通过将输入信号与一个高阻抗元件（如无源二极管）并联，并在其两端加上一个低阻抗元件（如无源二极管），可以实现对输入信号进行旁路处理，并输出旁路后的结果。</a:t>
            </a:r>
          </a:p>
          <a:p>
            <a:pPr eaLnBrk="1" hangingPunct="1">
              <a:lnSpc>
                <a:spcPct val="130000"/>
              </a:lnSpc>
            </a:pP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8003911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725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电容器的分类</a:t>
            </a:r>
            <a:endParaRPr lang="zh-CN" altLang="zh-CN" sz="4000" dirty="0"/>
          </a:p>
        </p:txBody>
      </p:sp>
      <p:sp>
        <p:nvSpPr>
          <p:cNvPr id="136196" name="Rectangle 4"/>
          <p:cNvSpPr>
            <a:spLocks noChangeArrowheads="1"/>
          </p:cNvSpPr>
          <p:nvPr/>
        </p:nvSpPr>
        <p:spPr bwMode="auto">
          <a:xfrm>
            <a:off x="1025525" y="1793946"/>
            <a:ext cx="6872734" cy="327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3200" dirty="0">
                <a:solidFill>
                  <a:srgbClr val="FF0000"/>
                </a:solidFill>
              </a:rPr>
              <a:t>电容器是一种能够够储存电荷的电子元件，它的基本结构是由两个相对的导体极板和中间的绝缘介质组成。不同类型的电容器有不同的特点和应用场景，下面我们将简单介绍一下几种常见的电容器类型</a:t>
            </a: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Tree>
    <p:extLst>
      <p:ext uri="{BB962C8B-B14F-4D97-AF65-F5344CB8AC3E}">
        <p14:creationId xmlns:p14="http://schemas.microsoft.com/office/powerpoint/2010/main" val="14464095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847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1</a:t>
            </a:r>
            <a:r>
              <a:rPr kumimoji="1" lang="zh-CN" altLang="en-US"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电解电容</a:t>
            </a:r>
            <a:r>
              <a:rPr kumimoji="1" lang="en-US" altLang="zh-CN"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a:t>
            </a:r>
            <a:endParaRPr kumimoji="1" lang="zh-CN" altLang="en-US" sz="40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025525" y="2097222"/>
            <a:ext cx="4572000" cy="1982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zh-CN" altLang="zh-CN" dirty="0">
                <a:solidFill>
                  <a:srgbClr val="FF0000"/>
                </a:solidFill>
              </a:rPr>
              <a:t>电解电容： 电解电容是电容的一种，金属箔为正极（铝或钽），与正极紧贴金属的氧化膜（氧化铝或五氧化二钽）是电介质，阴极由导电材料、电解质（电解质可以是液体或固体）和其他材料共同组成，因电解质是阴极的主要部分，电解电容因此而得名。同时电解电容正负不可接错。</a:t>
            </a: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pic>
        <p:nvPicPr>
          <p:cNvPr id="4" name="图片 3">
            <a:extLst>
              <a:ext uri="{FF2B5EF4-FFF2-40B4-BE49-F238E27FC236}">
                <a16:creationId xmlns:a16="http://schemas.microsoft.com/office/drawing/2014/main" id="{14664809-3B54-B968-6813-059B0F5A43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1704" y="1899618"/>
            <a:ext cx="2377440" cy="2377440"/>
          </a:xfrm>
          <a:prstGeom prst="rect">
            <a:avLst/>
          </a:prstGeom>
        </p:spPr>
      </p:pic>
    </p:spTree>
    <p:extLst>
      <p:ext uri="{BB962C8B-B14F-4D97-AF65-F5344CB8AC3E}">
        <p14:creationId xmlns:p14="http://schemas.microsoft.com/office/powerpoint/2010/main" val="8866702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1.1</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电解电容的原理</a:t>
            </a: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961270" y="1846251"/>
            <a:ext cx="4572000" cy="3367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zh-CN" dirty="0">
                <a:solidFill>
                  <a:srgbClr val="FF0000"/>
                </a:solidFill>
              </a:rPr>
              <a:t>电解电容器通常是由金属箔（铝</a:t>
            </a:r>
            <a:r>
              <a:rPr lang="en-US" altLang="zh-CN" dirty="0">
                <a:solidFill>
                  <a:srgbClr val="FF0000"/>
                </a:solidFill>
              </a:rPr>
              <a:t>/</a:t>
            </a:r>
            <a:r>
              <a:rPr lang="zh-CN" altLang="zh-CN" dirty="0">
                <a:solidFill>
                  <a:srgbClr val="FF0000"/>
                </a:solidFill>
              </a:rPr>
              <a:t>钽）作为正电极，金属箔的绝缘氧化层（氧化铝</a:t>
            </a:r>
            <a:r>
              <a:rPr lang="en-US" altLang="zh-CN" dirty="0">
                <a:solidFill>
                  <a:srgbClr val="FF0000"/>
                </a:solidFill>
              </a:rPr>
              <a:t>/</a:t>
            </a:r>
            <a:r>
              <a:rPr lang="zh-CN" altLang="zh-CN" dirty="0">
                <a:solidFill>
                  <a:srgbClr val="FF0000"/>
                </a:solidFill>
              </a:rPr>
              <a:t>钽五氧化物）作为电介质，电解电容器以其正电极的不同分为铝电解电容器和钽电解电容器。铝电解电容器的负电极由浸过电解质液（液态电解质）的薄纸</a:t>
            </a:r>
            <a:r>
              <a:rPr lang="en-US" altLang="zh-CN" dirty="0">
                <a:solidFill>
                  <a:srgbClr val="FF0000"/>
                </a:solidFill>
              </a:rPr>
              <a:t>/</a:t>
            </a:r>
            <a:r>
              <a:rPr lang="zh-CN" altLang="zh-CN" dirty="0">
                <a:solidFill>
                  <a:srgbClr val="FF0000"/>
                </a:solidFill>
              </a:rPr>
              <a:t>薄膜或电解质聚合物构成；钽电解电容器的负电极通常采用二氧化锰。由于均以电解质作为负电极（注意和电介质区分），电解电容器因而得名。</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pic>
        <p:nvPicPr>
          <p:cNvPr id="5" name="图片 4">
            <a:extLst>
              <a:ext uri="{FF2B5EF4-FFF2-40B4-BE49-F238E27FC236}">
                <a16:creationId xmlns:a16="http://schemas.microsoft.com/office/drawing/2014/main" id="{CAF18395-CBAE-7944-B18E-096993D037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9105" y="2058001"/>
            <a:ext cx="5381625" cy="3155705"/>
          </a:xfrm>
          <a:prstGeom prst="rect">
            <a:avLst/>
          </a:prstGeom>
        </p:spPr>
      </p:pic>
    </p:spTree>
    <p:extLst>
      <p:ext uri="{BB962C8B-B14F-4D97-AF65-F5344CB8AC3E}">
        <p14:creationId xmlns:p14="http://schemas.microsoft.com/office/powerpoint/2010/main" val="919942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1.2</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电解电容的应用</a:t>
            </a: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883481" y="1935331"/>
            <a:ext cx="7363874" cy="4047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dirty="0">
                <a:solidFill>
                  <a:srgbClr val="FF0000"/>
                </a:solidFill>
              </a:rPr>
              <a:t>有极性电解电容器通常在电源电路或中频、低频电路中起电源滤波、退耦、信号耦合及时间常数设定、隔直流等作用。一般不能用于交流电源电路，在直流电源电路中作滤波电容使用时，其阳极（正极）应与电源电压的正极端相连接，阴极（负极）与电源电压的负极端相连接，不能接反，否则会损坏电容器。</a:t>
            </a:r>
          </a:p>
          <a:p>
            <a:r>
              <a:rPr lang="zh-CN" altLang="zh-CN" dirty="0">
                <a:solidFill>
                  <a:srgbClr val="FF0000"/>
                </a:solidFill>
              </a:rPr>
              <a:t>无极性电解电容器通常用于音箱分频器电路、电视机</a:t>
            </a:r>
            <a:r>
              <a:rPr lang="en-US" altLang="zh-CN" dirty="0">
                <a:solidFill>
                  <a:srgbClr val="FF0000"/>
                </a:solidFill>
              </a:rPr>
              <a:t>S</a:t>
            </a:r>
            <a:r>
              <a:rPr lang="zh-CN" altLang="zh-CN" dirty="0">
                <a:solidFill>
                  <a:srgbClr val="FF0000"/>
                </a:solidFill>
              </a:rPr>
              <a:t>校正电路及单相电动机的起动电路。</a:t>
            </a:r>
          </a:p>
          <a:p>
            <a:r>
              <a:rPr lang="zh-CN" altLang="zh-CN" dirty="0">
                <a:solidFill>
                  <a:srgbClr val="FF0000"/>
                </a:solidFill>
              </a:rPr>
              <a:t>电解电容器广泛应用于家用电器和各种电子产品中，其容量范围较大，一般为</a:t>
            </a:r>
            <a:r>
              <a:rPr lang="en-US" altLang="zh-CN" dirty="0">
                <a:solidFill>
                  <a:srgbClr val="FF0000"/>
                </a:solidFill>
              </a:rPr>
              <a:t>1~33000μF</a:t>
            </a:r>
            <a:r>
              <a:rPr lang="zh-CN" altLang="zh-CN" dirty="0">
                <a:solidFill>
                  <a:srgbClr val="FF0000"/>
                </a:solidFill>
              </a:rPr>
              <a:t>，额定工作电压范围为</a:t>
            </a:r>
            <a:r>
              <a:rPr lang="en-US" altLang="zh-CN" dirty="0">
                <a:solidFill>
                  <a:srgbClr val="FF0000"/>
                </a:solidFill>
              </a:rPr>
              <a:t>6.3~700V</a:t>
            </a:r>
            <a:r>
              <a:rPr lang="zh-CN" altLang="zh-CN" dirty="0">
                <a:solidFill>
                  <a:srgbClr val="FF0000"/>
                </a:solidFill>
              </a:rPr>
              <a:t>。其缺点是介质损耗、容量误差较大（最大允许偏差为</a:t>
            </a:r>
            <a:r>
              <a:rPr lang="en-US" altLang="zh-CN" dirty="0">
                <a:solidFill>
                  <a:srgbClr val="FF0000"/>
                </a:solidFill>
              </a:rPr>
              <a:t>+100%</a:t>
            </a:r>
            <a:r>
              <a:rPr lang="zh-CN" altLang="zh-CN" dirty="0">
                <a:solidFill>
                  <a:srgbClr val="FF0000"/>
                </a:solidFill>
              </a:rPr>
              <a:t>、</a:t>
            </a:r>
            <a:r>
              <a:rPr lang="en-US" altLang="zh-CN" dirty="0">
                <a:solidFill>
                  <a:srgbClr val="FF0000"/>
                </a:solidFill>
              </a:rPr>
              <a:t>-20%</a:t>
            </a:r>
            <a:r>
              <a:rPr lang="zh-CN" altLang="zh-CN" dirty="0">
                <a:solidFill>
                  <a:srgbClr val="FF0000"/>
                </a:solidFill>
              </a:rPr>
              <a:t>），耐高温性较差，存放时间长容易失效。</a:t>
            </a:r>
          </a:p>
          <a:p>
            <a:r>
              <a:rPr lang="zh-CN" altLang="zh-CN" dirty="0">
                <a:solidFill>
                  <a:srgbClr val="FF0000"/>
                </a:solidFill>
              </a:rPr>
              <a:t>电解电容的极性，注意观察在电解电容的侧面有“</a:t>
            </a:r>
            <a:r>
              <a:rPr lang="en-US" altLang="zh-CN" dirty="0">
                <a:solidFill>
                  <a:srgbClr val="FF0000"/>
                </a:solidFill>
              </a:rPr>
              <a:t>-”</a:t>
            </a:r>
            <a:r>
              <a:rPr lang="zh-CN" altLang="zh-CN" dirty="0">
                <a:solidFill>
                  <a:srgbClr val="FF0000"/>
                </a:solidFill>
              </a:rPr>
              <a:t>是负极、</a:t>
            </a:r>
            <a:r>
              <a:rPr lang="en-US" altLang="zh-CN" dirty="0">
                <a:solidFill>
                  <a:srgbClr val="FF0000"/>
                </a:solidFill>
              </a:rPr>
              <a:t>“+”</a:t>
            </a:r>
            <a:r>
              <a:rPr lang="zh-CN" altLang="zh-CN" dirty="0">
                <a:solidFill>
                  <a:srgbClr val="FF0000"/>
                </a:solidFill>
              </a:rPr>
              <a:t>是正极，如果电解电容上没有标明正负极，也可以根据它的引脚的长短来判断，长脚为正极，短脚为负极。</a:t>
            </a: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Tree>
    <p:extLst>
      <p:ext uri="{BB962C8B-B14F-4D97-AF65-F5344CB8AC3E}">
        <p14:creationId xmlns:p14="http://schemas.microsoft.com/office/powerpoint/2010/main" val="256053201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1.3</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电解电容的特点</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342647" y="1642679"/>
            <a:ext cx="457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800" b="1" dirty="0">
                <a:solidFill>
                  <a:srgbClr val="C00000"/>
                </a:solidFill>
                <a:latin typeface="微软雅黑" panose="020B0503020204020204" pitchFamily="34" charset="-122"/>
                <a:ea typeface="微软雅黑" panose="020B0503020204020204" pitchFamily="34" charset="-122"/>
              </a:rPr>
              <a:t>1)</a:t>
            </a:r>
            <a:r>
              <a:rPr lang="zh-CN" altLang="en-US" sz="2800" b="1" dirty="0">
                <a:solidFill>
                  <a:srgbClr val="C00000"/>
                </a:solidFill>
                <a:latin typeface="微软雅黑" panose="020B0503020204020204" pitchFamily="34" charset="-122"/>
                <a:ea typeface="微软雅黑" panose="020B0503020204020204" pitchFamily="34" charset="-122"/>
              </a:rPr>
              <a:t>电容量大</a:t>
            </a:r>
          </a:p>
        </p:txBody>
      </p:sp>
      <p:sp>
        <p:nvSpPr>
          <p:cNvPr id="136197" name="Rectangle 5"/>
          <p:cNvSpPr>
            <a:spLocks noChangeArrowheads="1"/>
          </p:cNvSpPr>
          <p:nvPr/>
        </p:nvSpPr>
        <p:spPr bwMode="auto">
          <a:xfrm>
            <a:off x="1413669" y="3084435"/>
            <a:ext cx="5281612" cy="615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800" b="1" dirty="0">
                <a:solidFill>
                  <a:srgbClr val="C00000"/>
                </a:solidFill>
                <a:latin typeface="微软雅黑" panose="020B0503020204020204" pitchFamily="34" charset="-122"/>
                <a:ea typeface="微软雅黑" panose="020B0503020204020204" pitchFamily="34" charset="-122"/>
              </a:rPr>
              <a:t>3)</a:t>
            </a:r>
            <a:r>
              <a:rPr lang="zh-CN" altLang="en-US" sz="2800" b="1" dirty="0">
                <a:solidFill>
                  <a:srgbClr val="C00000"/>
                </a:solidFill>
                <a:latin typeface="微软雅黑" panose="020B0503020204020204" pitchFamily="34" charset="-122"/>
                <a:ea typeface="微软雅黑" panose="020B0503020204020204" pitchFamily="34" charset="-122"/>
              </a:rPr>
              <a:t>有极性</a:t>
            </a: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2" name="Rectangle 5">
            <a:extLst>
              <a:ext uri="{FF2B5EF4-FFF2-40B4-BE49-F238E27FC236}">
                <a16:creationId xmlns:a16="http://schemas.microsoft.com/office/drawing/2014/main" id="{B5AC98C0-8F4C-2D17-25D2-D72FEEF66144}"/>
              </a:ext>
            </a:extLst>
          </p:cNvPr>
          <p:cNvSpPr>
            <a:spLocks noChangeArrowheads="1"/>
          </p:cNvSpPr>
          <p:nvPr/>
        </p:nvSpPr>
        <p:spPr bwMode="auto">
          <a:xfrm>
            <a:off x="6910388" y="3084434"/>
            <a:ext cx="5281612" cy="615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800" b="1" dirty="0">
                <a:solidFill>
                  <a:srgbClr val="C00000"/>
                </a:solidFill>
                <a:latin typeface="微软雅黑" panose="020B0503020204020204" pitchFamily="34" charset="-122"/>
                <a:ea typeface="微软雅黑" panose="020B0503020204020204" pitchFamily="34" charset="-122"/>
              </a:rPr>
              <a:t>4)ESP</a:t>
            </a:r>
            <a:r>
              <a:rPr lang="zh-CN" altLang="en-US" sz="2800" b="1" dirty="0">
                <a:solidFill>
                  <a:srgbClr val="C00000"/>
                </a:solidFill>
                <a:latin typeface="微软雅黑" panose="020B0503020204020204" pitchFamily="34" charset="-122"/>
                <a:ea typeface="微软雅黑" panose="020B0503020204020204" pitchFamily="34" charset="-122"/>
              </a:rPr>
              <a:t>较大</a:t>
            </a:r>
          </a:p>
        </p:txBody>
      </p:sp>
      <p:sp>
        <p:nvSpPr>
          <p:cNvPr id="3" name="Rectangle 5">
            <a:extLst>
              <a:ext uri="{FF2B5EF4-FFF2-40B4-BE49-F238E27FC236}">
                <a16:creationId xmlns:a16="http://schemas.microsoft.com/office/drawing/2014/main" id="{3F6FA54F-AB44-DCAB-1776-08884F4767D4}"/>
              </a:ext>
            </a:extLst>
          </p:cNvPr>
          <p:cNvSpPr>
            <a:spLocks noChangeArrowheads="1"/>
          </p:cNvSpPr>
          <p:nvPr/>
        </p:nvSpPr>
        <p:spPr bwMode="auto">
          <a:xfrm>
            <a:off x="1381718" y="4357775"/>
            <a:ext cx="5281612" cy="615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800" b="1" dirty="0">
                <a:solidFill>
                  <a:srgbClr val="C00000"/>
                </a:solidFill>
                <a:latin typeface="微软雅黑" panose="020B0503020204020204" pitchFamily="34" charset="-122"/>
                <a:ea typeface="微软雅黑" panose="020B0503020204020204" pitchFamily="34" charset="-122"/>
              </a:rPr>
              <a:t>5)</a:t>
            </a:r>
            <a:r>
              <a:rPr lang="zh-CN" altLang="en-US" sz="2800" b="1" dirty="0">
                <a:solidFill>
                  <a:srgbClr val="C00000"/>
                </a:solidFill>
                <a:latin typeface="微软雅黑" panose="020B0503020204020204" pitchFamily="34" charset="-122"/>
                <a:ea typeface="微软雅黑" panose="020B0503020204020204" pitchFamily="34" charset="-122"/>
              </a:rPr>
              <a:t>频率响应范围宽</a:t>
            </a:r>
          </a:p>
        </p:txBody>
      </p:sp>
      <p:sp>
        <p:nvSpPr>
          <p:cNvPr id="4" name="Rectangle 5">
            <a:extLst>
              <a:ext uri="{FF2B5EF4-FFF2-40B4-BE49-F238E27FC236}">
                <a16:creationId xmlns:a16="http://schemas.microsoft.com/office/drawing/2014/main" id="{5E9D2D99-983B-F4E6-BCEA-B0418A557417}"/>
              </a:ext>
            </a:extLst>
          </p:cNvPr>
          <p:cNvSpPr>
            <a:spLocks noChangeArrowheads="1"/>
          </p:cNvSpPr>
          <p:nvPr/>
        </p:nvSpPr>
        <p:spPr bwMode="auto">
          <a:xfrm>
            <a:off x="6910388" y="1682607"/>
            <a:ext cx="5281612" cy="615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800" b="1" dirty="0">
                <a:solidFill>
                  <a:srgbClr val="C00000"/>
                </a:solidFill>
                <a:latin typeface="微软雅黑" panose="020B0503020204020204" pitchFamily="34" charset="-122"/>
                <a:ea typeface="微软雅黑" panose="020B0503020204020204" pitchFamily="34" charset="-122"/>
              </a:rPr>
              <a:t>2)</a:t>
            </a:r>
            <a:r>
              <a:rPr lang="zh-CN" altLang="en-US" sz="2800" b="1" dirty="0">
                <a:solidFill>
                  <a:srgbClr val="C00000"/>
                </a:solidFill>
                <a:latin typeface="微软雅黑" panose="020B0503020204020204" pitchFamily="34" charset="-122"/>
                <a:ea typeface="微软雅黑" panose="020B0503020204020204" pitchFamily="34" charset="-122"/>
              </a:rPr>
              <a:t>价格低廉</a:t>
            </a:r>
          </a:p>
        </p:txBody>
      </p:sp>
    </p:spTree>
    <p:extLst>
      <p:ext uri="{BB962C8B-B14F-4D97-AF65-F5344CB8AC3E}">
        <p14:creationId xmlns:p14="http://schemas.microsoft.com/office/powerpoint/2010/main" val="12031452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2" grpId="0" autoUpdateAnimBg="0"/>
      <p:bldP spid="3" grpId="0" autoUpdateAnimBg="0"/>
      <p:bldP spid="4"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1.4</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电解电容的发展趋势</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103313" y="1660125"/>
            <a:ext cx="8511204" cy="1145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1)</a:t>
            </a:r>
            <a:r>
              <a:rPr lang="zh-CN" altLang="zh-CN" dirty="0">
                <a:solidFill>
                  <a:srgbClr val="FF0000"/>
                </a:solidFill>
              </a:rPr>
              <a:t>提高超级电容器的能量密度是一个重要的目标。通过设计新型电极材料、优化电极结构和提高电解液浓度等方式，提高超级电容器的能量存存储量。</a:t>
            </a:r>
          </a:p>
          <a:p>
            <a:r>
              <a:rPr lang="en-US" altLang="zh-CN" dirty="0"/>
              <a:t> </a:t>
            </a:r>
            <a:endParaRPr lang="zh-CN" altLang="zh-CN" dirty="0"/>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3" name="Rectangle 4">
            <a:extLst>
              <a:ext uri="{FF2B5EF4-FFF2-40B4-BE49-F238E27FC236}">
                <a16:creationId xmlns:a16="http://schemas.microsoft.com/office/drawing/2014/main" id="{B6CFE379-4183-AB4A-D3C2-4685C09EAA07}"/>
              </a:ext>
            </a:extLst>
          </p:cNvPr>
          <p:cNvSpPr>
            <a:spLocks noChangeArrowheads="1"/>
          </p:cNvSpPr>
          <p:nvPr/>
        </p:nvSpPr>
        <p:spPr bwMode="auto">
          <a:xfrm>
            <a:off x="1103313" y="2748565"/>
            <a:ext cx="8511204" cy="1469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2)</a:t>
            </a:r>
            <a:r>
              <a:rPr lang="zh-CN" altLang="zh-CN" dirty="0">
                <a:solidFill>
                  <a:srgbClr val="FF0000"/>
                </a:solidFill>
              </a:rPr>
              <a:t>优化超级电容器的充放电性能是提高超级电容器性能的关键。。研究超级电容器和和储能系统之间的相互作用机理，优化超级电容器表面结构和组成，提高超级电容器的充放效率。</a:t>
            </a:r>
          </a:p>
          <a:p>
            <a:r>
              <a:rPr lang="en-US" altLang="zh-CN" dirty="0"/>
              <a:t> </a:t>
            </a:r>
            <a:endParaRPr lang="zh-CN" altLang="zh-CN" dirty="0"/>
          </a:p>
          <a:p>
            <a:r>
              <a:rPr lang="en-US" altLang="zh-CN" dirty="0"/>
              <a:t> </a:t>
            </a:r>
            <a:endParaRPr lang="zh-CN" altLang="zh-CN" dirty="0"/>
          </a:p>
        </p:txBody>
      </p:sp>
      <p:sp>
        <p:nvSpPr>
          <p:cNvPr id="6" name="文本框 5">
            <a:extLst>
              <a:ext uri="{FF2B5EF4-FFF2-40B4-BE49-F238E27FC236}">
                <a16:creationId xmlns:a16="http://schemas.microsoft.com/office/drawing/2014/main" id="{66CE3AF0-5AEF-A6BE-6DF7-B771E8C1F16C}"/>
              </a:ext>
            </a:extLst>
          </p:cNvPr>
          <p:cNvSpPr txBox="1"/>
          <p:nvPr/>
        </p:nvSpPr>
        <p:spPr>
          <a:xfrm>
            <a:off x="1103313" y="3756153"/>
            <a:ext cx="8402562" cy="923330"/>
          </a:xfrm>
          <a:prstGeom prst="rect">
            <a:avLst/>
          </a:prstGeom>
          <a:noFill/>
        </p:spPr>
        <p:txBody>
          <a:bodyPr wrap="square">
            <a:spAutoFit/>
          </a:bodyPr>
          <a:lstStyle/>
          <a:p>
            <a:pPr lvl="0" algn="just"/>
            <a:r>
              <a:rPr lang="en-US" alt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3)</a:t>
            </a:r>
            <a:r>
              <a:rPr lang="zh-CN" alt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降低超级电容器的成本是实现商业化应用的关键。通过降低材料和制造工艺成本，改进生产效率和质量控制，降低超级电容器的制造成本。</a:t>
            </a:r>
          </a:p>
          <a:p>
            <a:pPr algn="just"/>
            <a:r>
              <a:rPr lang="en-US" alt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6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BF22ECA5-8F06-5AAB-FA72-B23F5445F659}"/>
              </a:ext>
            </a:extLst>
          </p:cNvPr>
          <p:cNvSpPr txBox="1"/>
          <p:nvPr/>
        </p:nvSpPr>
        <p:spPr>
          <a:xfrm>
            <a:off x="1103312" y="4585697"/>
            <a:ext cx="8402561" cy="892552"/>
          </a:xfrm>
          <a:prstGeom prst="rect">
            <a:avLst/>
          </a:prstGeom>
          <a:noFill/>
        </p:spPr>
        <p:txBody>
          <a:bodyPr wrap="square">
            <a:spAutoFit/>
          </a:bodyPr>
          <a:lstStyle/>
          <a:p>
            <a:pPr algn="just"/>
            <a:r>
              <a:rPr lang="en-US" alt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4)</a:t>
            </a:r>
            <a:r>
              <a:rPr lang="zh-CN" alt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加强生产技术术研发和产业化推进是促进超级市场发展的关键。加强与政府、企业、科科研机构等各方合作，建立标准规范体系，推动超级市场规模扩大。</a:t>
            </a:r>
          </a:p>
          <a:p>
            <a:pPr lvl="0" algn="just"/>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035162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847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2</a:t>
            </a:r>
            <a:r>
              <a:rPr kumimoji="1" lang="zh-CN" altLang="en-US"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陶瓷电容</a:t>
            </a:r>
            <a:endParaRPr kumimoji="1" lang="zh-CN" altLang="en-US" sz="40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025525" y="2228296"/>
            <a:ext cx="4572000" cy="3029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zh-CN" dirty="0">
                <a:solidFill>
                  <a:srgbClr val="FF0000"/>
                </a:solidFill>
              </a:rPr>
              <a:t>陶瓷电容：陶瓷电容器又称为瓷介电容器或独石电容器。顾名思义，瓷介电容器就是介质材料为陶瓷的电容器。根据陶瓷材料的不同，可以分为低频陶瓷电容器和高频陶瓷电容器两类。按结构形式分类，又可分为圆片状电容器、管状电容器、矩形电容器、片状电容器、穿心电容器等多种。</a:t>
            </a:r>
          </a:p>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pic>
        <p:nvPicPr>
          <p:cNvPr id="4" name="图片 3">
            <a:extLst>
              <a:ext uri="{FF2B5EF4-FFF2-40B4-BE49-F238E27FC236}">
                <a16:creationId xmlns:a16="http://schemas.microsoft.com/office/drawing/2014/main" id="{AFEEE89A-0E37-6E30-B697-B48B384A56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9071" y="1485629"/>
            <a:ext cx="3886742" cy="3886742"/>
          </a:xfrm>
          <a:prstGeom prst="rect">
            <a:avLst/>
          </a:prstGeom>
        </p:spPr>
      </p:pic>
    </p:spTree>
    <p:extLst>
      <p:ext uri="{BB962C8B-B14F-4D97-AF65-F5344CB8AC3E}">
        <p14:creationId xmlns:p14="http://schemas.microsoft.com/office/powerpoint/2010/main" val="24664574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2.1</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陶瓷电容的特性</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095914" y="3311383"/>
            <a:ext cx="457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solidFill>
                  <a:srgbClr val="C00000"/>
                </a:solidFill>
                <a:latin typeface="微软雅黑" panose="020B0503020204020204" pitchFamily="34" charset="-122"/>
                <a:ea typeface="微软雅黑" panose="020B0503020204020204" pitchFamily="34" charset="-122"/>
              </a:rPr>
              <a:t>2)</a:t>
            </a:r>
            <a:r>
              <a:rPr lang="zh-CN" altLang="en-US" sz="2400" b="1" dirty="0">
                <a:solidFill>
                  <a:srgbClr val="C00000"/>
                </a:solidFill>
                <a:latin typeface="微软雅黑" panose="020B0503020204020204" pitchFamily="34" charset="-122"/>
                <a:ea typeface="微软雅黑" panose="020B0503020204020204" pitchFamily="34" charset="-122"/>
              </a:rPr>
              <a:t>耐热性好</a:t>
            </a: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2" name="Rectangle 4">
            <a:extLst>
              <a:ext uri="{FF2B5EF4-FFF2-40B4-BE49-F238E27FC236}">
                <a16:creationId xmlns:a16="http://schemas.microsoft.com/office/drawing/2014/main" id="{C43FC264-4D89-00AB-9AF1-861788BE1DD1}"/>
              </a:ext>
            </a:extLst>
          </p:cNvPr>
          <p:cNvSpPr>
            <a:spLocks noChangeArrowheads="1"/>
          </p:cNvSpPr>
          <p:nvPr/>
        </p:nvSpPr>
        <p:spPr bwMode="auto">
          <a:xfrm>
            <a:off x="1095914" y="1799473"/>
            <a:ext cx="45720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solidFill>
                  <a:srgbClr val="C00000"/>
                </a:solidFill>
                <a:latin typeface="微软雅黑" panose="020B0503020204020204" pitchFamily="34" charset="-122"/>
                <a:ea typeface="微软雅黑" panose="020B0503020204020204" pitchFamily="34" charset="-122"/>
              </a:rPr>
              <a:t>1)</a:t>
            </a:r>
            <a:r>
              <a:rPr lang="zh-CN" altLang="en-US" sz="2400" b="1" dirty="0">
                <a:solidFill>
                  <a:srgbClr val="C00000"/>
                </a:solidFill>
                <a:latin typeface="微软雅黑" panose="020B0503020204020204" pitchFamily="34" charset="-122"/>
                <a:ea typeface="微软雅黑" panose="020B0503020204020204" pitchFamily="34" charset="-122"/>
              </a:rPr>
              <a:t>体积小</a:t>
            </a:r>
          </a:p>
        </p:txBody>
      </p:sp>
      <p:sp>
        <p:nvSpPr>
          <p:cNvPr id="3" name="Rectangle 4">
            <a:extLst>
              <a:ext uri="{FF2B5EF4-FFF2-40B4-BE49-F238E27FC236}">
                <a16:creationId xmlns:a16="http://schemas.microsoft.com/office/drawing/2014/main" id="{F4690C67-6317-33B6-DDC1-9F83FB5DACE6}"/>
              </a:ext>
            </a:extLst>
          </p:cNvPr>
          <p:cNvSpPr>
            <a:spLocks noChangeArrowheads="1"/>
          </p:cNvSpPr>
          <p:nvPr/>
        </p:nvSpPr>
        <p:spPr bwMode="auto">
          <a:xfrm>
            <a:off x="1095914" y="4743266"/>
            <a:ext cx="457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solidFill>
                  <a:srgbClr val="C00000"/>
                </a:solidFill>
                <a:latin typeface="微软雅黑" panose="020B0503020204020204" pitchFamily="34" charset="-122"/>
                <a:ea typeface="微软雅黑" panose="020B0503020204020204" pitchFamily="34" charset="-122"/>
              </a:rPr>
              <a:t>3)</a:t>
            </a:r>
            <a:r>
              <a:rPr lang="zh-CN" altLang="en-US" sz="2400" b="1" dirty="0">
                <a:solidFill>
                  <a:srgbClr val="C00000"/>
                </a:solidFill>
                <a:latin typeface="微软雅黑" panose="020B0503020204020204" pitchFamily="34" charset="-122"/>
                <a:ea typeface="微软雅黑" panose="020B0503020204020204" pitchFamily="34" charset="-122"/>
              </a:rPr>
              <a:t>损耗小</a:t>
            </a:r>
          </a:p>
        </p:txBody>
      </p:sp>
      <p:sp>
        <p:nvSpPr>
          <p:cNvPr id="4" name="Rectangle 4">
            <a:extLst>
              <a:ext uri="{FF2B5EF4-FFF2-40B4-BE49-F238E27FC236}">
                <a16:creationId xmlns:a16="http://schemas.microsoft.com/office/drawing/2014/main" id="{9CDA5982-24D2-5AA6-57F0-36607D0CFFF2}"/>
              </a:ext>
            </a:extLst>
          </p:cNvPr>
          <p:cNvSpPr>
            <a:spLocks noChangeArrowheads="1"/>
          </p:cNvSpPr>
          <p:nvPr/>
        </p:nvSpPr>
        <p:spPr bwMode="auto">
          <a:xfrm>
            <a:off x="6373813" y="1751834"/>
            <a:ext cx="457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solidFill>
                  <a:srgbClr val="C00000"/>
                </a:solidFill>
                <a:latin typeface="微软雅黑" panose="020B0503020204020204" pitchFamily="34" charset="-122"/>
                <a:ea typeface="微软雅黑" panose="020B0503020204020204" pitchFamily="34" charset="-122"/>
              </a:rPr>
              <a:t>4)</a:t>
            </a:r>
            <a:r>
              <a:rPr lang="zh-CN" altLang="en-US" sz="2400" b="1" dirty="0">
                <a:solidFill>
                  <a:srgbClr val="C00000"/>
                </a:solidFill>
                <a:latin typeface="微软雅黑" panose="020B0503020204020204" pitchFamily="34" charset="-122"/>
                <a:ea typeface="微软雅黑" panose="020B0503020204020204" pitchFamily="34" charset="-122"/>
              </a:rPr>
              <a:t>结缘电阻高</a:t>
            </a:r>
          </a:p>
        </p:txBody>
      </p:sp>
      <p:sp>
        <p:nvSpPr>
          <p:cNvPr id="5" name="Rectangle 4">
            <a:extLst>
              <a:ext uri="{FF2B5EF4-FFF2-40B4-BE49-F238E27FC236}">
                <a16:creationId xmlns:a16="http://schemas.microsoft.com/office/drawing/2014/main" id="{441B512C-F8DA-5C74-0867-1C20BC7C8EC9}"/>
              </a:ext>
            </a:extLst>
          </p:cNvPr>
          <p:cNvSpPr>
            <a:spLocks noChangeArrowheads="1"/>
          </p:cNvSpPr>
          <p:nvPr/>
        </p:nvSpPr>
        <p:spPr bwMode="auto">
          <a:xfrm>
            <a:off x="6373813" y="3207320"/>
            <a:ext cx="457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solidFill>
                  <a:srgbClr val="C00000"/>
                </a:solidFill>
                <a:latin typeface="微软雅黑" panose="020B0503020204020204" pitchFamily="34" charset="-122"/>
                <a:ea typeface="微软雅黑" panose="020B0503020204020204" pitchFamily="34" charset="-122"/>
              </a:rPr>
              <a:t>5)</a:t>
            </a:r>
            <a:r>
              <a:rPr lang="zh-CN" altLang="en-US" sz="2400" b="1" dirty="0">
                <a:solidFill>
                  <a:srgbClr val="C00000"/>
                </a:solidFill>
                <a:latin typeface="微软雅黑" panose="020B0503020204020204" pitchFamily="34" charset="-122"/>
                <a:ea typeface="微软雅黑" panose="020B0503020204020204" pitchFamily="34" charset="-122"/>
              </a:rPr>
              <a:t>容量小</a:t>
            </a:r>
          </a:p>
        </p:txBody>
      </p:sp>
      <p:sp>
        <p:nvSpPr>
          <p:cNvPr id="6" name="Rectangle 4">
            <a:extLst>
              <a:ext uri="{FF2B5EF4-FFF2-40B4-BE49-F238E27FC236}">
                <a16:creationId xmlns:a16="http://schemas.microsoft.com/office/drawing/2014/main" id="{CB676EB3-53CE-FE7F-D282-FFFB7F12D690}"/>
              </a:ext>
            </a:extLst>
          </p:cNvPr>
          <p:cNvSpPr>
            <a:spLocks noChangeArrowheads="1"/>
          </p:cNvSpPr>
          <p:nvPr/>
        </p:nvSpPr>
        <p:spPr bwMode="auto">
          <a:xfrm>
            <a:off x="6373813" y="4743266"/>
            <a:ext cx="457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solidFill>
                  <a:srgbClr val="C00000"/>
                </a:solidFill>
                <a:latin typeface="微软雅黑" panose="020B0503020204020204" pitchFamily="34" charset="-122"/>
                <a:ea typeface="微软雅黑" panose="020B0503020204020204" pitchFamily="34" charset="-122"/>
              </a:rPr>
              <a:t>6)</a:t>
            </a:r>
            <a:r>
              <a:rPr lang="zh-CN" altLang="en-US" sz="2400" b="1" dirty="0">
                <a:solidFill>
                  <a:srgbClr val="C00000"/>
                </a:solidFill>
                <a:latin typeface="微软雅黑" panose="020B0503020204020204" pitchFamily="34" charset="-122"/>
                <a:ea typeface="微软雅黑" panose="020B0503020204020204" pitchFamily="34" charset="-122"/>
              </a:rPr>
              <a:t>适用于高频电路</a:t>
            </a:r>
          </a:p>
        </p:txBody>
      </p:sp>
    </p:spTree>
    <p:extLst>
      <p:ext uri="{BB962C8B-B14F-4D97-AF65-F5344CB8AC3E}">
        <p14:creationId xmlns:p14="http://schemas.microsoft.com/office/powerpoint/2010/main" val="23335836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2" grpId="0" autoUpdateAnimBg="0"/>
      <p:bldP spid="3" grpId="0" autoUpdateAnimBg="0"/>
      <p:bldP spid="4" grpId="0" autoUpdateAnimBg="0"/>
      <p:bldP spid="5" grpId="0" autoUpdateAnimBg="0"/>
      <p:bldP spid="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2.2</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陶瓷电容的主要性能参数</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943514" y="1145219"/>
            <a:ext cx="5152485" cy="1828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solidFill>
                  <a:srgbClr val="C00000"/>
                </a:solidFill>
                <a:latin typeface="微软雅黑" panose="020B0503020204020204" pitchFamily="34" charset="-122"/>
                <a:ea typeface="微软雅黑" panose="020B0503020204020204" pitchFamily="34" charset="-122"/>
              </a:rPr>
              <a:t>1)</a:t>
            </a:r>
            <a:r>
              <a:rPr lang="zh-CN" altLang="en-US" sz="2400" b="1" dirty="0">
                <a:solidFill>
                  <a:srgbClr val="C00000"/>
                </a:solidFill>
                <a:latin typeface="微软雅黑" panose="020B0503020204020204" pitchFamily="34" charset="-122"/>
                <a:ea typeface="微软雅黑" panose="020B0503020204020204" pitchFamily="34" charset="-122"/>
              </a:rPr>
              <a:t>额定电压</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zh-CN" dirty="0">
                <a:solidFill>
                  <a:srgbClr val="FF0000"/>
                </a:solidFill>
              </a:rPr>
              <a:t>能够稳定地施加给电容器的、可使用的最大电压称为额定电压</a:t>
            </a:r>
            <a:r>
              <a:rPr lang="zh-CN" altLang="zh-CN" dirty="0"/>
              <a:t>。</a:t>
            </a:r>
          </a:p>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3" name="Rectangle 4">
            <a:extLst>
              <a:ext uri="{FF2B5EF4-FFF2-40B4-BE49-F238E27FC236}">
                <a16:creationId xmlns:a16="http://schemas.microsoft.com/office/drawing/2014/main" id="{B96A19B5-A6FD-81AA-FCFF-378F4407B21D}"/>
              </a:ext>
            </a:extLst>
          </p:cNvPr>
          <p:cNvSpPr>
            <a:spLocks noChangeArrowheads="1"/>
          </p:cNvSpPr>
          <p:nvPr/>
        </p:nvSpPr>
        <p:spPr bwMode="auto">
          <a:xfrm>
            <a:off x="943515" y="2514600"/>
            <a:ext cx="5281612" cy="1828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2)</a:t>
            </a:r>
            <a:r>
              <a:rPr lang="zh-CN" altLang="en-US" sz="2400" b="1" dirty="0">
                <a:solidFill>
                  <a:srgbClr val="C00000"/>
                </a:solidFill>
                <a:latin typeface="微软雅黑" panose="020B0503020204020204" pitchFamily="34" charset="-122"/>
                <a:ea typeface="微软雅黑" panose="020B0503020204020204" pitchFamily="34" charset="-122"/>
              </a:rPr>
              <a:t>漏电流</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绝缘电阻</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绝缘击穿</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zh-CN" dirty="0">
                <a:solidFill>
                  <a:srgbClr val="FF0000"/>
                </a:solidFill>
              </a:rPr>
              <a:t>虽然电容器截断了直流电，但也会出现微小的漏电流。用流过电容器的电流除以施加在电容器上的电压所得的值称为绝缘电阻值。</a:t>
            </a:r>
          </a:p>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7" name="Rectangle 4">
            <a:extLst>
              <a:ext uri="{FF2B5EF4-FFF2-40B4-BE49-F238E27FC236}">
                <a16:creationId xmlns:a16="http://schemas.microsoft.com/office/drawing/2014/main" id="{552F5DF8-2424-3491-F33F-6B576C2F9699}"/>
              </a:ext>
            </a:extLst>
          </p:cNvPr>
          <p:cNvSpPr>
            <a:spLocks noChangeArrowheads="1"/>
          </p:cNvSpPr>
          <p:nvPr/>
        </p:nvSpPr>
        <p:spPr bwMode="auto">
          <a:xfrm>
            <a:off x="878951" y="3876582"/>
            <a:ext cx="5281612" cy="1828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3)</a:t>
            </a:r>
            <a:r>
              <a:rPr lang="en-US" altLang="zh-CN" sz="2400" dirty="0"/>
              <a:t> </a:t>
            </a:r>
            <a:r>
              <a:rPr lang="en-US" altLang="zh-CN" sz="2400" b="1" dirty="0" err="1">
                <a:solidFill>
                  <a:srgbClr val="FF0000"/>
                </a:solidFill>
                <a:ea typeface="微软雅黑" panose="020B0503020204020204" pitchFamily="34" charset="-122"/>
                <a:cs typeface="Arial" panose="020B0604020202020204" pitchFamily="34" charset="0"/>
              </a:rPr>
              <a:t>tanδ</a:t>
            </a:r>
            <a:r>
              <a:rPr lang="en-US" altLang="zh-CN" sz="2400" b="1" dirty="0">
                <a:solidFill>
                  <a:srgbClr val="FF0000"/>
                </a:solidFill>
                <a:ea typeface="微软雅黑" panose="020B0503020204020204" pitchFamily="34" charset="-122"/>
                <a:cs typeface="Arial" panose="020B0604020202020204" pitchFamily="34" charset="0"/>
              </a:rPr>
              <a:t>/Q</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zh-CN" dirty="0">
                <a:solidFill>
                  <a:srgbClr val="FF0000"/>
                </a:solidFill>
              </a:rPr>
              <a:t>理想状况下，电路上不存在电容器内部的能量消耗，但实际上，电容器的介电损耗、电极、导线、电极的电阻成分（</a:t>
            </a:r>
            <a:r>
              <a:rPr lang="en-US" altLang="zh-CN" dirty="0">
                <a:solidFill>
                  <a:srgbClr val="FF0000"/>
                </a:solidFill>
              </a:rPr>
              <a:t>ESR</a:t>
            </a:r>
            <a:r>
              <a:rPr lang="zh-CN" altLang="zh-CN" dirty="0">
                <a:solidFill>
                  <a:srgbClr val="FF0000"/>
                </a:solidFill>
              </a:rPr>
              <a:t>：等效串联电阻）都会引发能量损耗。</a:t>
            </a:r>
          </a:p>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10" name="Rectangle 4">
            <a:extLst>
              <a:ext uri="{FF2B5EF4-FFF2-40B4-BE49-F238E27FC236}">
                <a16:creationId xmlns:a16="http://schemas.microsoft.com/office/drawing/2014/main" id="{9C538386-7835-8224-9E10-0FDC71440627}"/>
              </a:ext>
            </a:extLst>
          </p:cNvPr>
          <p:cNvSpPr>
            <a:spLocks noChangeArrowheads="1"/>
          </p:cNvSpPr>
          <p:nvPr/>
        </p:nvSpPr>
        <p:spPr bwMode="auto">
          <a:xfrm>
            <a:off x="6096000" y="1470877"/>
            <a:ext cx="5152485" cy="1828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solidFill>
                  <a:srgbClr val="C00000"/>
                </a:solidFill>
                <a:latin typeface="微软雅黑" panose="020B0503020204020204" pitchFamily="34" charset="-122"/>
                <a:ea typeface="微软雅黑" panose="020B0503020204020204" pitchFamily="34" charset="-122"/>
              </a:rPr>
              <a:t>4)</a:t>
            </a:r>
            <a:r>
              <a:rPr lang="zh-CN" altLang="en-US" sz="2400" b="1" dirty="0">
                <a:solidFill>
                  <a:srgbClr val="C00000"/>
                </a:solidFill>
                <a:latin typeface="微软雅黑" panose="020B0503020204020204" pitchFamily="34" charset="-122"/>
                <a:ea typeface="微软雅黑" panose="020B0503020204020204" pitchFamily="34" charset="-122"/>
              </a:rPr>
              <a:t>静电容量的温度特性</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zh-CN" dirty="0">
                <a:solidFill>
                  <a:srgbClr val="FF0000"/>
                </a:solidFill>
              </a:rPr>
              <a:t>多用于电子设备的积层陶瓷电容器根据电介质的种类大致分为低电容率类</a:t>
            </a:r>
            <a:r>
              <a:rPr lang="en-US" altLang="zh-CN" dirty="0">
                <a:solidFill>
                  <a:srgbClr val="FF0000"/>
                </a:solidFill>
              </a:rPr>
              <a:t> (</a:t>
            </a:r>
            <a:r>
              <a:rPr lang="zh-CN" altLang="zh-CN" dirty="0">
                <a:solidFill>
                  <a:srgbClr val="FF0000"/>
                </a:solidFill>
              </a:rPr>
              <a:t>种类</a:t>
            </a:r>
            <a:r>
              <a:rPr lang="en-US" altLang="zh-CN" dirty="0">
                <a:solidFill>
                  <a:srgbClr val="FF0000"/>
                </a:solidFill>
              </a:rPr>
              <a:t>1)</a:t>
            </a:r>
            <a:r>
              <a:rPr lang="zh-CN" altLang="zh-CN" dirty="0">
                <a:solidFill>
                  <a:srgbClr val="FF0000"/>
                </a:solidFill>
              </a:rPr>
              <a:t>与高电容率类</a:t>
            </a:r>
            <a:r>
              <a:rPr lang="en-US" altLang="zh-CN" dirty="0">
                <a:solidFill>
                  <a:srgbClr val="FF0000"/>
                </a:solidFill>
              </a:rPr>
              <a:t> (</a:t>
            </a:r>
            <a:r>
              <a:rPr lang="zh-CN" altLang="zh-CN" dirty="0">
                <a:solidFill>
                  <a:srgbClr val="FF0000"/>
                </a:solidFill>
              </a:rPr>
              <a:t>种类</a:t>
            </a:r>
            <a:r>
              <a:rPr lang="en-US" altLang="zh-CN" dirty="0">
                <a:solidFill>
                  <a:srgbClr val="FF0000"/>
                </a:solidFill>
              </a:rPr>
              <a:t>2)</a:t>
            </a:r>
            <a:r>
              <a:rPr lang="zh-CN" altLang="zh-CN" dirty="0">
                <a:solidFill>
                  <a:srgbClr val="FF0000"/>
                </a:solidFill>
              </a:rPr>
              <a:t>，并根据温度特性进一步细分。</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11" name="Rectangle 4">
            <a:extLst>
              <a:ext uri="{FF2B5EF4-FFF2-40B4-BE49-F238E27FC236}">
                <a16:creationId xmlns:a16="http://schemas.microsoft.com/office/drawing/2014/main" id="{8AE07E0D-F8C9-5D81-A2DD-2514763FB17E}"/>
              </a:ext>
            </a:extLst>
          </p:cNvPr>
          <p:cNvSpPr>
            <a:spLocks noChangeArrowheads="1"/>
          </p:cNvSpPr>
          <p:nvPr/>
        </p:nvSpPr>
        <p:spPr bwMode="auto">
          <a:xfrm>
            <a:off x="6157789" y="3303418"/>
            <a:ext cx="5152485" cy="1828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solidFill>
                  <a:srgbClr val="C00000"/>
                </a:solidFill>
                <a:latin typeface="微软雅黑" panose="020B0503020204020204" pitchFamily="34" charset="-122"/>
                <a:ea typeface="微软雅黑" panose="020B0503020204020204" pitchFamily="34" charset="-122"/>
              </a:rPr>
              <a:t>5)</a:t>
            </a:r>
            <a:r>
              <a:rPr lang="zh-CN" altLang="en-US" sz="2400" b="1" dirty="0">
                <a:solidFill>
                  <a:srgbClr val="C00000"/>
                </a:solidFill>
                <a:latin typeface="微软雅黑" panose="020B0503020204020204" pitchFamily="34" charset="-122"/>
                <a:ea typeface="微软雅黑" panose="020B0503020204020204" pitchFamily="34" charset="-122"/>
              </a:rPr>
              <a:t>直流偏压特性</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zh-CN" dirty="0">
                <a:solidFill>
                  <a:srgbClr val="FF0000"/>
                </a:solidFill>
              </a:rPr>
              <a:t>陶瓷电容器的静电容量还会因所施加的电压而发生变化，在直流电压下被称为直流偏压特性。</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009643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3" grpId="0" autoUpdateAnimBg="0"/>
      <p:bldP spid="7" grpId="0" autoUpdateAnimBg="0"/>
      <p:bldP spid="10" grpId="0" autoUpdateAnimBg="0"/>
      <p:bldP spid="1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2.3</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陶瓷电容的发展趋势</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2159756" y="1845882"/>
            <a:ext cx="6922100" cy="1631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1)</a:t>
            </a:r>
            <a:r>
              <a:rPr lang="zh-CN" altLang="en-US" sz="2400" b="1" dirty="0">
                <a:solidFill>
                  <a:srgbClr val="C00000"/>
                </a:solidFill>
                <a:latin typeface="微软雅黑" panose="020B0503020204020204" pitchFamily="34" charset="-122"/>
                <a:ea typeface="微软雅黑" panose="020B0503020204020204" pitchFamily="34" charset="-122"/>
              </a:rPr>
              <a:t>高压化</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zh-CN" dirty="0">
                <a:solidFill>
                  <a:srgbClr val="FF0000"/>
                </a:solidFill>
              </a:rPr>
              <a:t>随着电源装置电路设计上的演进，</a:t>
            </a:r>
            <a:r>
              <a:rPr lang="en-US" altLang="zh-CN" dirty="0">
                <a:solidFill>
                  <a:srgbClr val="FF0000"/>
                </a:solidFill>
              </a:rPr>
              <a:t>LED</a:t>
            </a:r>
            <a:r>
              <a:rPr lang="zh-CN" altLang="zh-CN" dirty="0">
                <a:solidFill>
                  <a:srgbClr val="FF0000"/>
                </a:solidFill>
              </a:rPr>
              <a:t>照明部分需求有望上升，</a:t>
            </a:r>
            <a:r>
              <a:rPr lang="en-US" altLang="zh-CN" dirty="0">
                <a:solidFill>
                  <a:srgbClr val="FF0000"/>
                </a:solidFill>
              </a:rPr>
              <a:t>3~4KV</a:t>
            </a:r>
            <a:r>
              <a:rPr lang="zh-CN" altLang="zh-CN" dirty="0">
                <a:solidFill>
                  <a:srgbClr val="FF0000"/>
                </a:solidFill>
              </a:rPr>
              <a:t>的高压电容需求将持续增加。</a:t>
            </a:r>
          </a:p>
          <a:p>
            <a:r>
              <a:rPr lang="en-US" altLang="zh-CN" dirty="0"/>
              <a:t> </a:t>
            </a:r>
            <a:endParaRPr lang="zh-CN" altLang="zh-CN" dirty="0"/>
          </a:p>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4" name="Rectangle 4">
            <a:extLst>
              <a:ext uri="{FF2B5EF4-FFF2-40B4-BE49-F238E27FC236}">
                <a16:creationId xmlns:a16="http://schemas.microsoft.com/office/drawing/2014/main" id="{32DEB83C-3F9C-8EEE-64D3-DCA1218D42E5}"/>
              </a:ext>
            </a:extLst>
          </p:cNvPr>
          <p:cNvSpPr>
            <a:spLocks noChangeArrowheads="1"/>
          </p:cNvSpPr>
          <p:nvPr/>
        </p:nvSpPr>
        <p:spPr bwMode="auto">
          <a:xfrm>
            <a:off x="2159756" y="2242712"/>
            <a:ext cx="7064143" cy="319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2)</a:t>
            </a:r>
            <a:r>
              <a:rPr lang="zh-CN" altLang="en-US" sz="2400" b="1" dirty="0">
                <a:solidFill>
                  <a:srgbClr val="C00000"/>
                </a:solidFill>
                <a:latin typeface="微软雅黑" panose="020B0503020204020204" pitchFamily="34" charset="-122"/>
                <a:ea typeface="微软雅黑" panose="020B0503020204020204" pitchFamily="34" charset="-122"/>
              </a:rPr>
              <a:t>高频化</a:t>
            </a:r>
            <a:r>
              <a:rPr lang="en-US" altLang="zh-CN" sz="2400" b="1" dirty="0">
                <a:solidFill>
                  <a:srgbClr val="C00000"/>
                </a:solidFill>
                <a:latin typeface="微软雅黑" panose="020B0503020204020204" pitchFamily="34" charset="-122"/>
                <a:ea typeface="微软雅黑" panose="020B0503020204020204" pitchFamily="34" charset="-122"/>
              </a:rPr>
              <a:t>:</a:t>
            </a:r>
            <a:r>
              <a:rPr lang="en-US" altLang="zh-CN" dirty="0">
                <a:solidFill>
                  <a:srgbClr val="FF0000"/>
                </a:solidFill>
              </a:rPr>
              <a:t>MLCC</a:t>
            </a:r>
            <a:r>
              <a:rPr lang="zh-CN" altLang="zh-CN" dirty="0">
                <a:solidFill>
                  <a:srgbClr val="FF0000"/>
                </a:solidFill>
              </a:rPr>
              <a:t>的工作频率已进入毫米波频段范围，为满足电子回路的高性能与多功能要求，</a:t>
            </a:r>
            <a:r>
              <a:rPr lang="en-US" altLang="zh-CN" dirty="0">
                <a:solidFill>
                  <a:srgbClr val="FF0000"/>
                </a:solidFill>
              </a:rPr>
              <a:t>LSI</a:t>
            </a:r>
            <a:r>
              <a:rPr lang="zh-CN" altLang="zh-CN" dirty="0">
                <a:solidFill>
                  <a:srgbClr val="FF0000"/>
                </a:solidFill>
              </a:rPr>
              <a:t>的工作频率越来越高，这对低阻抗电源供给也提出了更高的要求，市场对于能够在宽频</a:t>
            </a:r>
            <a:r>
              <a:rPr lang="en-US" altLang="zh-CN" dirty="0">
                <a:solidFill>
                  <a:srgbClr val="FF0000"/>
                </a:solidFill>
              </a:rPr>
              <a:t> (MHz-GHz)</a:t>
            </a:r>
            <a:r>
              <a:rPr lang="zh-CN" altLang="zh-CN" dirty="0">
                <a:solidFill>
                  <a:srgbClr val="FF0000"/>
                </a:solidFill>
              </a:rPr>
              <a:t>使用的低阻抗低感抗</a:t>
            </a:r>
            <a:r>
              <a:rPr lang="en-US" altLang="zh-CN" dirty="0">
                <a:solidFill>
                  <a:srgbClr val="FF0000"/>
                </a:solidFill>
              </a:rPr>
              <a:t>ESR/ESL</a:t>
            </a:r>
            <a:r>
              <a:rPr lang="zh-CN" altLang="zh-CN" dirty="0">
                <a:solidFill>
                  <a:srgbClr val="FF0000"/>
                </a:solidFill>
              </a:rPr>
              <a:t>的</a:t>
            </a:r>
            <a:r>
              <a:rPr lang="en-US" altLang="zh-CN" dirty="0">
                <a:solidFill>
                  <a:srgbClr val="FF0000"/>
                </a:solidFill>
              </a:rPr>
              <a:t>MLCC</a:t>
            </a:r>
            <a:r>
              <a:rPr lang="zh-CN" altLang="zh-CN" dirty="0">
                <a:solidFill>
                  <a:srgbClr val="FF0000"/>
                </a:solidFill>
              </a:rPr>
              <a:t>的需求变得更为迫切。</a:t>
            </a:r>
          </a:p>
          <a:p>
            <a:r>
              <a:rPr lang="en-US" altLang="zh-CN" dirty="0"/>
              <a:t> </a:t>
            </a:r>
            <a:endParaRPr lang="zh-CN" altLang="zh-CN" dirty="0"/>
          </a:p>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435244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4"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596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103313" y="2746375"/>
            <a:ext cx="457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2" name="Rectangle 4">
            <a:extLst>
              <a:ext uri="{FF2B5EF4-FFF2-40B4-BE49-F238E27FC236}">
                <a16:creationId xmlns:a16="http://schemas.microsoft.com/office/drawing/2014/main" id="{7CD69F34-B1E1-D97C-E7CA-5EBC4945F556}"/>
              </a:ext>
            </a:extLst>
          </p:cNvPr>
          <p:cNvSpPr>
            <a:spLocks noChangeArrowheads="1"/>
          </p:cNvSpPr>
          <p:nvPr/>
        </p:nvSpPr>
        <p:spPr bwMode="auto">
          <a:xfrm>
            <a:off x="2172068" y="689279"/>
            <a:ext cx="7717655" cy="319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3)</a:t>
            </a:r>
            <a:r>
              <a:rPr lang="zh-CN" altLang="en-US" sz="2400" b="1" dirty="0">
                <a:solidFill>
                  <a:srgbClr val="C00000"/>
                </a:solidFill>
                <a:latin typeface="微软雅黑" panose="020B0503020204020204" pitchFamily="34" charset="-122"/>
                <a:ea typeface="微软雅黑" panose="020B0503020204020204" pitchFamily="34" charset="-122"/>
              </a:rPr>
              <a:t>高可靠度</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zh-CN" dirty="0">
                <a:solidFill>
                  <a:srgbClr val="FF0000"/>
                </a:solidFill>
              </a:rPr>
              <a:t>在车载用</a:t>
            </a:r>
            <a:r>
              <a:rPr lang="en-US" altLang="zh-CN" dirty="0">
                <a:solidFill>
                  <a:srgbClr val="FF0000"/>
                </a:solidFill>
              </a:rPr>
              <a:t>MLCC</a:t>
            </a:r>
            <a:r>
              <a:rPr lang="zh-CN" altLang="zh-CN" dirty="0">
                <a:solidFill>
                  <a:srgbClr val="FF0000"/>
                </a:solidFill>
              </a:rPr>
              <a:t>方面，</a:t>
            </a:r>
            <a:r>
              <a:rPr lang="en-US" altLang="zh-CN" dirty="0">
                <a:solidFill>
                  <a:srgbClr val="FF0000"/>
                </a:solidFill>
              </a:rPr>
              <a:t>MLCC</a:t>
            </a:r>
            <a:r>
              <a:rPr lang="zh-CN" altLang="zh-CN" dirty="0">
                <a:solidFill>
                  <a:srgbClr val="FF0000"/>
                </a:solidFill>
              </a:rPr>
              <a:t>需要在极端的温度环境，弯曲强度等冲击传达的情况以及高湿度（湿度</a:t>
            </a:r>
            <a:r>
              <a:rPr lang="en-US" altLang="zh-CN" dirty="0">
                <a:solidFill>
                  <a:srgbClr val="FF0000"/>
                </a:solidFill>
              </a:rPr>
              <a:t>85%</a:t>
            </a:r>
            <a:r>
              <a:rPr lang="zh-CN" altLang="zh-CN" dirty="0">
                <a:solidFill>
                  <a:srgbClr val="FF0000"/>
                </a:solidFill>
              </a:rPr>
              <a:t>）等极端环境中稳定运转；同时还需要获得汽车电子零件信赖度测试规格</a:t>
            </a:r>
            <a:r>
              <a:rPr lang="en-US" altLang="zh-CN" dirty="0">
                <a:solidFill>
                  <a:srgbClr val="FF0000"/>
                </a:solidFill>
              </a:rPr>
              <a:t>AEC-Q200</a:t>
            </a:r>
            <a:r>
              <a:rPr lang="zh-CN" altLang="zh-CN" dirty="0">
                <a:solidFill>
                  <a:srgbClr val="FF0000"/>
                </a:solidFill>
              </a:rPr>
              <a:t>（车载用被动零件相关的认证规格）认证，生产标准苛刻。因此，未来</a:t>
            </a:r>
            <a:r>
              <a:rPr lang="en-US" altLang="zh-CN" dirty="0">
                <a:solidFill>
                  <a:srgbClr val="FF0000"/>
                </a:solidFill>
              </a:rPr>
              <a:t>MLCC</a:t>
            </a:r>
            <a:r>
              <a:rPr lang="zh-CN" altLang="zh-CN" dirty="0">
                <a:solidFill>
                  <a:srgbClr val="FF0000"/>
                </a:solidFill>
              </a:rPr>
              <a:t>的高可靠度要求也将会不断提升。</a:t>
            </a:r>
          </a:p>
          <a:p>
            <a:r>
              <a:rPr lang="en-US" altLang="zh-CN" dirty="0"/>
              <a:t> </a:t>
            </a:r>
            <a:endParaRPr lang="zh-CN" altLang="zh-CN" dirty="0"/>
          </a:p>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4" name="Rectangle 4">
            <a:extLst>
              <a:ext uri="{FF2B5EF4-FFF2-40B4-BE49-F238E27FC236}">
                <a16:creationId xmlns:a16="http://schemas.microsoft.com/office/drawing/2014/main" id="{46ACF631-0367-F096-8BE7-3CC35BF58164}"/>
              </a:ext>
            </a:extLst>
          </p:cNvPr>
          <p:cNvSpPr>
            <a:spLocks noChangeArrowheads="1"/>
          </p:cNvSpPr>
          <p:nvPr/>
        </p:nvSpPr>
        <p:spPr bwMode="auto">
          <a:xfrm>
            <a:off x="2126841" y="2924989"/>
            <a:ext cx="7717655" cy="319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4)</a:t>
            </a:r>
            <a:r>
              <a:rPr lang="zh-CN" altLang="en-US" sz="2400" b="1" dirty="0">
                <a:solidFill>
                  <a:srgbClr val="C00000"/>
                </a:solidFill>
                <a:latin typeface="微软雅黑" panose="020B0503020204020204" pitchFamily="34" charset="-122"/>
                <a:ea typeface="微软雅黑" panose="020B0503020204020204" pitchFamily="34" charset="-122"/>
              </a:rPr>
              <a:t>微型化和小尺寸</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zh-CN" dirty="0">
                <a:solidFill>
                  <a:srgbClr val="FF0000"/>
                </a:solidFill>
              </a:rPr>
              <a:t>终端设备轻薄化和功能完善化的市场需求，促使</a:t>
            </a:r>
            <a:r>
              <a:rPr lang="en-US" altLang="zh-CN" dirty="0">
                <a:solidFill>
                  <a:srgbClr val="FF0000"/>
                </a:solidFill>
              </a:rPr>
              <a:t> MLCC </a:t>
            </a:r>
            <a:r>
              <a:rPr lang="zh-CN" altLang="zh-CN" dirty="0">
                <a:solidFill>
                  <a:srgbClr val="FF0000"/>
                </a:solidFill>
              </a:rPr>
              <a:t>向微型化和小尺寸方向发展。一方面，消费者热衷于</a:t>
            </a:r>
            <a:r>
              <a:rPr lang="en-US" altLang="zh-CN" dirty="0">
                <a:solidFill>
                  <a:srgbClr val="FF0000"/>
                </a:solidFill>
              </a:rPr>
              <a:t>“</a:t>
            </a:r>
            <a:r>
              <a:rPr lang="zh-CN" altLang="zh-CN" dirty="0">
                <a:solidFill>
                  <a:srgbClr val="FF0000"/>
                </a:solidFill>
              </a:rPr>
              <a:t>轻薄化</a:t>
            </a:r>
            <a:r>
              <a:rPr lang="en-US" altLang="zh-CN" dirty="0">
                <a:solidFill>
                  <a:srgbClr val="FF0000"/>
                </a:solidFill>
              </a:rPr>
              <a:t>”</a:t>
            </a:r>
            <a:r>
              <a:rPr lang="zh-CN" altLang="zh-CN" dirty="0">
                <a:solidFill>
                  <a:srgbClr val="FF0000"/>
                </a:solidFill>
              </a:rPr>
              <a:t>的移动电子设备，驱动电子产品小型化。另一方面，随着智能手机在功能上更加全面丰富，预计机身内的电子回路将大幅增加。因此，要在体积日渐缩小的手机机身中植入更多电子元件，需要进一步减小</a:t>
            </a:r>
            <a:r>
              <a:rPr lang="en-US" altLang="zh-CN" dirty="0">
                <a:solidFill>
                  <a:srgbClr val="FF0000"/>
                </a:solidFill>
              </a:rPr>
              <a:t> MLCC </a:t>
            </a:r>
            <a:r>
              <a:rPr lang="zh-CN" altLang="zh-CN" dirty="0">
                <a:solidFill>
                  <a:srgbClr val="FF0000"/>
                </a:solidFill>
              </a:rPr>
              <a:t>等电容器的体积。</a:t>
            </a:r>
          </a:p>
          <a:p>
            <a:r>
              <a:rPr lang="en-US" altLang="zh-CN" dirty="0"/>
              <a:t> </a:t>
            </a:r>
            <a:endParaRPr lang="zh-CN" altLang="zh-CN" dirty="0"/>
          </a:p>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518737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2" grpId="0" autoUpdateAnimBg="0"/>
      <p:bldP spid="4"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596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025525" y="1422446"/>
            <a:ext cx="457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2" name="Rectangle 4">
            <a:extLst>
              <a:ext uri="{FF2B5EF4-FFF2-40B4-BE49-F238E27FC236}">
                <a16:creationId xmlns:a16="http://schemas.microsoft.com/office/drawing/2014/main" id="{43EB0E88-F50D-F54B-7750-7F9940C21B1D}"/>
              </a:ext>
            </a:extLst>
          </p:cNvPr>
          <p:cNvSpPr>
            <a:spLocks noChangeArrowheads="1"/>
          </p:cNvSpPr>
          <p:nvPr/>
        </p:nvSpPr>
        <p:spPr bwMode="auto">
          <a:xfrm>
            <a:off x="2438400" y="2179704"/>
            <a:ext cx="7717655" cy="2117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5)</a:t>
            </a:r>
            <a:r>
              <a:rPr lang="zh-CN" altLang="en-US" sz="2400" b="1" dirty="0">
                <a:solidFill>
                  <a:srgbClr val="C00000"/>
                </a:solidFill>
                <a:latin typeface="微软雅黑" panose="020B0503020204020204" pitchFamily="34" charset="-122"/>
                <a:ea typeface="微软雅黑" panose="020B0503020204020204" pitchFamily="34" charset="-122"/>
              </a:rPr>
              <a:t>大容量</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zh-CN" dirty="0">
                <a:solidFill>
                  <a:srgbClr val="FF0000"/>
                </a:solidFill>
              </a:rPr>
              <a:t>为匹配终端不断增加的功能，电池容量增长，要求</a:t>
            </a:r>
            <a:r>
              <a:rPr lang="en-US" altLang="zh-CN" dirty="0">
                <a:solidFill>
                  <a:srgbClr val="FF0000"/>
                </a:solidFill>
              </a:rPr>
              <a:t> MLCC </a:t>
            </a:r>
            <a:r>
              <a:rPr lang="zh-CN" altLang="zh-CN" dirty="0">
                <a:solidFill>
                  <a:srgbClr val="FF0000"/>
                </a:solidFill>
              </a:rPr>
              <a:t>向着大容量趋势发展。由于终端配置功能的增多，使电池容量变大，对大容量电池进行稳定快速的充电，需要配置大容量、高品质的</a:t>
            </a:r>
            <a:r>
              <a:rPr lang="en-US" altLang="zh-CN" dirty="0">
                <a:solidFill>
                  <a:srgbClr val="FF0000"/>
                </a:solidFill>
              </a:rPr>
              <a:t>MLCC</a:t>
            </a:r>
            <a:r>
              <a:rPr lang="zh-CN" altLang="zh-CN" dirty="0">
                <a:solidFill>
                  <a:srgbClr val="FF0000"/>
                </a:solidFill>
              </a:rPr>
              <a:t>。</a:t>
            </a:r>
            <a:r>
              <a:rPr lang="en-US" altLang="zh-CN" dirty="0">
                <a:solidFill>
                  <a:srgbClr val="FF0000"/>
                </a:solidFill>
              </a:rPr>
              <a:t> </a:t>
            </a:r>
            <a:endParaRPr lang="zh-CN" altLang="zh-CN" dirty="0">
              <a:solidFill>
                <a:srgbClr val="FF0000"/>
              </a:solidFill>
            </a:endParaRPr>
          </a:p>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289233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847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a:t>
            </a:r>
            <a:r>
              <a:rPr kumimoji="1" lang="en-US" altLang="zh-CN"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3</a:t>
            </a:r>
            <a:r>
              <a:rPr kumimoji="1" lang="zh-CN" altLang="en-US"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云母电容</a:t>
            </a:r>
            <a:endParaRPr kumimoji="1" lang="zh-CN" altLang="en-US" sz="40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244993" y="1986314"/>
            <a:ext cx="4572000" cy="2352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zh-CN" altLang="zh-CN" dirty="0">
                <a:solidFill>
                  <a:srgbClr val="FF0000"/>
                </a:solidFill>
              </a:rPr>
              <a:t>云母电容：这种电容器是利用云母材料作为介质来实现现储能的。云母材料具有良好的稳定性、精度和频率响应等特点，因此可以制成高压、高频、高精度等类型的云母电容。这种方式可以实现低损耗、低</a:t>
            </a:r>
            <a:r>
              <a:rPr lang="en-US" altLang="zh-CN" dirty="0">
                <a:solidFill>
                  <a:srgbClr val="FF0000"/>
                </a:solidFill>
              </a:rPr>
              <a:t>ESR</a:t>
            </a:r>
            <a:r>
              <a:rPr lang="zh-CN" altLang="zh-CN" dirty="0">
                <a:solidFill>
                  <a:srgbClr val="FF0000"/>
                </a:solidFill>
              </a:rPr>
              <a:t>（等效串联阻抗）、小体积等优点，但也有一些缺点，比如需要使用外部直流源、易受温度和湿度影响、价格较高等。</a:t>
            </a: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pic>
        <p:nvPicPr>
          <p:cNvPr id="4" name="图片 3">
            <a:extLst>
              <a:ext uri="{FF2B5EF4-FFF2-40B4-BE49-F238E27FC236}">
                <a16:creationId xmlns:a16="http://schemas.microsoft.com/office/drawing/2014/main" id="{31B946CA-F4C7-A9B4-A02B-4994D0C650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971471"/>
            <a:ext cx="4763165" cy="2915057"/>
          </a:xfrm>
          <a:prstGeom prst="rect">
            <a:avLst/>
          </a:prstGeom>
        </p:spPr>
      </p:pic>
    </p:spTree>
    <p:extLst>
      <p:ext uri="{BB962C8B-B14F-4D97-AF65-F5344CB8AC3E}">
        <p14:creationId xmlns:p14="http://schemas.microsoft.com/office/powerpoint/2010/main" val="12829348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3.1</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云母电容的特性</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025525" y="1813003"/>
            <a:ext cx="4572000" cy="1476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solidFill>
                  <a:srgbClr val="C00000"/>
                </a:solidFill>
                <a:latin typeface="微软雅黑" panose="020B0503020204020204" pitchFamily="34" charset="-122"/>
                <a:ea typeface="微软雅黑" panose="020B0503020204020204" pitchFamily="34" charset="-122"/>
              </a:rPr>
              <a:t>1)</a:t>
            </a:r>
            <a:r>
              <a:rPr lang="zh-CN" altLang="zh-CN" sz="2400" b="1" dirty="0">
                <a:solidFill>
                  <a:srgbClr val="C00000"/>
                </a:solidFill>
                <a:latin typeface="微软雅黑" panose="020B0503020204020204" pitchFamily="34" charset="-122"/>
                <a:ea typeface="微软雅黑" panose="020B0503020204020204" pitchFamily="34" charset="-122"/>
              </a:rPr>
              <a:t>容量范围不宽，一般在</a:t>
            </a:r>
            <a:r>
              <a:rPr lang="en-US" altLang="zh-CN" sz="2400" b="1" dirty="0">
                <a:solidFill>
                  <a:srgbClr val="C00000"/>
                </a:solidFill>
                <a:latin typeface="微软雅黑" panose="020B0503020204020204" pitchFamily="34" charset="-122"/>
                <a:ea typeface="微软雅黑" panose="020B0503020204020204" pitchFamily="34" charset="-122"/>
              </a:rPr>
              <a:t>10~51000pF</a:t>
            </a:r>
            <a:r>
              <a:rPr lang="zh-CN" altLang="zh-CN" sz="2400" b="1" dirty="0">
                <a:solidFill>
                  <a:srgbClr val="C00000"/>
                </a:solidFill>
                <a:latin typeface="微软雅黑" panose="020B0503020204020204" pitchFamily="34" charset="-122"/>
                <a:ea typeface="微软雅黑" panose="020B0503020204020204" pitchFamily="34" charset="-122"/>
              </a:rPr>
              <a:t>之间</a:t>
            </a:r>
            <a:r>
              <a:rPr lang="zh-CN" altLang="zh-CN" dirty="0">
                <a:solidFill>
                  <a:srgbClr val="C00000"/>
                </a:solidFill>
              </a:rPr>
              <a:t>。</a:t>
            </a:r>
          </a:p>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3" name="Rectangle 4">
            <a:extLst>
              <a:ext uri="{FF2B5EF4-FFF2-40B4-BE49-F238E27FC236}">
                <a16:creationId xmlns:a16="http://schemas.microsoft.com/office/drawing/2014/main" id="{8F58112B-34F2-5A5E-9ABC-62AD6DEC2799}"/>
              </a:ext>
            </a:extLst>
          </p:cNvPr>
          <p:cNvSpPr>
            <a:spLocks noChangeArrowheads="1"/>
          </p:cNvSpPr>
          <p:nvPr/>
        </p:nvSpPr>
        <p:spPr bwMode="auto">
          <a:xfrm>
            <a:off x="5472606" y="1599066"/>
            <a:ext cx="4572000" cy="1476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2)</a:t>
            </a:r>
            <a:r>
              <a:rPr lang="zh-CN" altLang="zh-CN" sz="2400" b="1" dirty="0">
                <a:solidFill>
                  <a:srgbClr val="C00000"/>
                </a:solidFill>
                <a:latin typeface="微软雅黑" panose="020B0503020204020204" pitchFamily="34" charset="-122"/>
                <a:ea typeface="微软雅黑" panose="020B0503020204020204" pitchFamily="34" charset="-122"/>
              </a:rPr>
              <a:t>稳定性高，可靠性高，且可制成高精度电容器。</a:t>
            </a:r>
          </a:p>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5" name="Rectangle 4">
            <a:extLst>
              <a:ext uri="{FF2B5EF4-FFF2-40B4-BE49-F238E27FC236}">
                <a16:creationId xmlns:a16="http://schemas.microsoft.com/office/drawing/2014/main" id="{0D34DEA6-3E21-0E74-B34B-561BFBFDCDEE}"/>
              </a:ext>
            </a:extLst>
          </p:cNvPr>
          <p:cNvSpPr>
            <a:spLocks noChangeArrowheads="1"/>
          </p:cNvSpPr>
          <p:nvPr/>
        </p:nvSpPr>
        <p:spPr bwMode="auto">
          <a:xfrm>
            <a:off x="1051704" y="2943553"/>
            <a:ext cx="4637881" cy="1476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3)</a:t>
            </a:r>
            <a:r>
              <a:rPr lang="zh-CN" altLang="zh-CN" sz="2400" b="1" dirty="0">
                <a:solidFill>
                  <a:srgbClr val="C00000"/>
                </a:solidFill>
                <a:latin typeface="微软雅黑" panose="020B0503020204020204" pitchFamily="34" charset="-122"/>
                <a:ea typeface="微软雅黑" panose="020B0503020204020204" pitchFamily="34" charset="-122"/>
              </a:rPr>
              <a:t>固有电感小，不易老化，频率特性稳定，是性能优良的高频电容器之一</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7" name="Rectangle 4">
            <a:extLst>
              <a:ext uri="{FF2B5EF4-FFF2-40B4-BE49-F238E27FC236}">
                <a16:creationId xmlns:a16="http://schemas.microsoft.com/office/drawing/2014/main" id="{3F580D1C-75A0-BAEA-7E60-6F52E60F81B5}"/>
              </a:ext>
            </a:extLst>
          </p:cNvPr>
          <p:cNvSpPr>
            <a:spLocks noChangeArrowheads="1"/>
          </p:cNvSpPr>
          <p:nvPr/>
        </p:nvSpPr>
        <p:spPr bwMode="auto">
          <a:xfrm>
            <a:off x="5735352" y="3191625"/>
            <a:ext cx="4572000" cy="1476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4)</a:t>
            </a:r>
            <a:r>
              <a:rPr lang="zh-CN" altLang="zh-CN" sz="2400" b="1" dirty="0">
                <a:solidFill>
                  <a:srgbClr val="C00000"/>
                </a:solidFill>
                <a:latin typeface="微软雅黑" panose="020B0503020204020204" pitchFamily="34" charset="-122"/>
                <a:ea typeface="微软雅黑" panose="020B0503020204020204" pitchFamily="34" charset="-122"/>
              </a:rPr>
              <a:t>绝缘电阻高，一般可达</a:t>
            </a:r>
            <a:r>
              <a:rPr lang="en-US" altLang="zh-CN" sz="2400" b="1" dirty="0">
                <a:solidFill>
                  <a:srgbClr val="C00000"/>
                </a:solidFill>
                <a:latin typeface="微软雅黑" panose="020B0503020204020204" pitchFamily="34" charset="-122"/>
                <a:ea typeface="微软雅黑" panose="020B0503020204020204" pitchFamily="34" charset="-122"/>
              </a:rPr>
              <a:t>1000</a:t>
            </a:r>
            <a:r>
              <a:rPr lang="zh-CN" altLang="zh-CN" sz="2400" b="1" dirty="0">
                <a:solidFill>
                  <a:srgbClr val="C00000"/>
                </a:solidFill>
                <a:latin typeface="微软雅黑" panose="020B0503020204020204" pitchFamily="34" charset="-122"/>
                <a:ea typeface="微软雅黑" panose="020B0503020204020204" pitchFamily="34" charset="-122"/>
              </a:rPr>
              <a:t>～</a:t>
            </a:r>
            <a:r>
              <a:rPr lang="en-US" altLang="zh-CN" sz="2400" b="1" dirty="0">
                <a:solidFill>
                  <a:srgbClr val="C00000"/>
                </a:solidFill>
                <a:latin typeface="微软雅黑" panose="020B0503020204020204" pitchFamily="34" charset="-122"/>
                <a:ea typeface="微软雅黑" panose="020B0503020204020204" pitchFamily="34" charset="-122"/>
              </a:rPr>
              <a:t>7500MΩ</a:t>
            </a:r>
            <a:r>
              <a:rPr lang="zh-CN" altLang="zh-CN" dirty="0"/>
              <a:t>。</a:t>
            </a:r>
          </a:p>
          <a:p>
            <a:r>
              <a:rPr lang="en-US" altLang="zh-CN" dirty="0"/>
              <a:t> </a:t>
            </a:r>
            <a:endParaRPr lang="zh-CN" altLang="zh-CN" dirty="0"/>
          </a:p>
          <a:p>
            <a:pPr lvl="0"/>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8" name="Rectangle 4">
            <a:extLst>
              <a:ext uri="{FF2B5EF4-FFF2-40B4-BE49-F238E27FC236}">
                <a16:creationId xmlns:a16="http://schemas.microsoft.com/office/drawing/2014/main" id="{81F2C1A5-8436-FF32-B01B-71BD6A47AA6E}"/>
              </a:ext>
            </a:extLst>
          </p:cNvPr>
          <p:cNvSpPr>
            <a:spLocks noChangeArrowheads="1"/>
          </p:cNvSpPr>
          <p:nvPr/>
        </p:nvSpPr>
        <p:spPr bwMode="auto">
          <a:xfrm>
            <a:off x="1010952" y="4548109"/>
            <a:ext cx="4572000" cy="1476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5)</a:t>
            </a:r>
            <a:r>
              <a:rPr lang="zh-CN" altLang="zh-CN" sz="2400" b="1" dirty="0">
                <a:solidFill>
                  <a:srgbClr val="C00000"/>
                </a:solidFill>
                <a:latin typeface="微软雅黑" panose="020B0503020204020204" pitchFamily="34" charset="-122"/>
                <a:ea typeface="微软雅黑" panose="020B0503020204020204" pitchFamily="34" charset="-122"/>
              </a:rPr>
              <a:t>温度特性好，使用环境温度一般在</a:t>
            </a:r>
            <a:r>
              <a:rPr lang="en-US" altLang="zh-CN" sz="2400" b="1" dirty="0">
                <a:solidFill>
                  <a:srgbClr val="C00000"/>
                </a:solidFill>
                <a:latin typeface="微软雅黑" panose="020B0503020204020204" pitchFamily="34" charset="-122"/>
                <a:ea typeface="微软雅黑" panose="020B0503020204020204" pitchFamily="34" charset="-122"/>
              </a:rPr>
              <a:t>-55℃</a:t>
            </a:r>
            <a:r>
              <a:rPr lang="zh-CN" altLang="zh-CN" sz="2400" b="1" dirty="0">
                <a:solidFill>
                  <a:srgbClr val="C00000"/>
                </a:solidFill>
                <a:latin typeface="微软雅黑" panose="020B0503020204020204" pitchFamily="34" charset="-122"/>
                <a:ea typeface="微软雅黑" panose="020B0503020204020204" pitchFamily="34" charset="-122"/>
              </a:rPr>
              <a:t>～</a:t>
            </a:r>
            <a:r>
              <a:rPr lang="en-US" altLang="zh-CN" sz="2400" b="1" dirty="0">
                <a:solidFill>
                  <a:srgbClr val="C00000"/>
                </a:solidFill>
                <a:latin typeface="微软雅黑" panose="020B0503020204020204" pitchFamily="34" charset="-122"/>
                <a:ea typeface="微软雅黑" panose="020B0503020204020204" pitchFamily="34" charset="-122"/>
              </a:rPr>
              <a:t>+85℃</a:t>
            </a:r>
            <a:r>
              <a:rPr lang="zh-CN" altLang="zh-CN" sz="2400" b="1" dirty="0">
                <a:solidFill>
                  <a:srgbClr val="C00000"/>
                </a:solidFill>
                <a:latin typeface="微软雅黑" panose="020B0503020204020204" pitchFamily="34" charset="-122"/>
                <a:ea typeface="微软雅黑" panose="020B0503020204020204" pitchFamily="34" charset="-122"/>
              </a:rPr>
              <a:t>范围内</a:t>
            </a:r>
          </a:p>
          <a:p>
            <a:r>
              <a:rPr lang="en-US" altLang="zh-CN" dirty="0"/>
              <a:t> </a:t>
            </a:r>
            <a:endParaRPr lang="zh-CN" altLang="zh-CN" dirty="0"/>
          </a:p>
          <a:p>
            <a:pPr lvl="0"/>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9" name="Rectangle 4">
            <a:extLst>
              <a:ext uri="{FF2B5EF4-FFF2-40B4-BE49-F238E27FC236}">
                <a16:creationId xmlns:a16="http://schemas.microsoft.com/office/drawing/2014/main" id="{C509BA39-C3C4-4166-4E3B-732A29941620}"/>
              </a:ext>
            </a:extLst>
          </p:cNvPr>
          <p:cNvSpPr>
            <a:spLocks noChangeArrowheads="1"/>
          </p:cNvSpPr>
          <p:nvPr/>
        </p:nvSpPr>
        <p:spPr bwMode="auto">
          <a:xfrm>
            <a:off x="5866614" y="4087838"/>
            <a:ext cx="4572000" cy="92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6)</a:t>
            </a:r>
            <a:r>
              <a:rPr lang="zh-CN" altLang="en-US" sz="2400" b="1" dirty="0">
                <a:solidFill>
                  <a:srgbClr val="C00000"/>
                </a:solidFill>
                <a:latin typeface="微软雅黑" panose="020B0503020204020204" pitchFamily="34" charset="-122"/>
                <a:ea typeface="微软雅黑" panose="020B0503020204020204" pitchFamily="34" charset="-122"/>
              </a:rPr>
              <a:t>介质损耗小</a:t>
            </a:r>
          </a:p>
        </p:txBody>
      </p:sp>
      <p:sp>
        <p:nvSpPr>
          <p:cNvPr id="12" name="Rectangle 4">
            <a:extLst>
              <a:ext uri="{FF2B5EF4-FFF2-40B4-BE49-F238E27FC236}">
                <a16:creationId xmlns:a16="http://schemas.microsoft.com/office/drawing/2014/main" id="{A4244502-30A1-DA27-BE0B-7658C63F5C37}"/>
              </a:ext>
            </a:extLst>
          </p:cNvPr>
          <p:cNvSpPr>
            <a:spLocks noChangeArrowheads="1"/>
          </p:cNvSpPr>
          <p:nvPr/>
        </p:nvSpPr>
        <p:spPr bwMode="auto">
          <a:xfrm>
            <a:off x="1056719" y="4195633"/>
            <a:ext cx="4572000" cy="1751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7)</a:t>
            </a:r>
            <a:r>
              <a:rPr lang="zh-CN" altLang="en-US" sz="2400" b="1" dirty="0">
                <a:solidFill>
                  <a:srgbClr val="C00000"/>
                </a:solidFill>
                <a:latin typeface="微软雅黑" panose="020B0503020204020204" pitchFamily="34" charset="-122"/>
                <a:ea typeface="微软雅黑" panose="020B0503020204020204" pitchFamily="34" charset="-122"/>
              </a:rPr>
              <a:t>价格较贵</a:t>
            </a:r>
          </a:p>
        </p:txBody>
      </p:sp>
    </p:spTree>
    <p:extLst>
      <p:ext uri="{BB962C8B-B14F-4D97-AF65-F5344CB8AC3E}">
        <p14:creationId xmlns:p14="http://schemas.microsoft.com/office/powerpoint/2010/main" val="237045626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3" grpId="0" autoUpdateAnimBg="0"/>
      <p:bldP spid="5" grpId="0" autoUpdateAnimBg="0"/>
      <p:bldP spid="7" grpId="0" autoUpdateAnimBg="0"/>
      <p:bldP spid="8" grpId="0" autoUpdateAnimBg="0"/>
      <p:bldP spid="9" grpId="0" autoUpdateAnimBg="0"/>
      <p:bldP spid="12"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3.2</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云母电容的性能参数</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103313" y="1846251"/>
            <a:ext cx="4572000" cy="1582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1)</a:t>
            </a:r>
            <a:r>
              <a:rPr lang="zh-CN" altLang="zh-CN" dirty="0">
                <a:solidFill>
                  <a:srgbClr val="FF0000"/>
                </a:solidFill>
              </a:rPr>
              <a:t>电容值：电容值是云母电容的重要参数之一，表示电容器存储和释放的电荷量。它通常以法拉（</a:t>
            </a:r>
            <a:r>
              <a:rPr lang="en-US" altLang="zh-CN" dirty="0">
                <a:solidFill>
                  <a:srgbClr val="FF0000"/>
                </a:solidFill>
              </a:rPr>
              <a:t>F</a:t>
            </a:r>
            <a:r>
              <a:rPr lang="zh-CN" altLang="zh-CN" dirty="0">
                <a:solidFill>
                  <a:srgbClr val="FF0000"/>
                </a:solidFill>
              </a:rPr>
              <a:t>）作为单位进行表示。根据应用需求，可以选择不同范围的电容值，从几皮法拉（</a:t>
            </a:r>
            <a:r>
              <a:rPr lang="en-US" altLang="zh-CN" dirty="0">
                <a:solidFill>
                  <a:srgbClr val="FF0000"/>
                </a:solidFill>
              </a:rPr>
              <a:t>pF</a:t>
            </a:r>
            <a:r>
              <a:rPr lang="zh-CN" altLang="zh-CN" dirty="0">
                <a:solidFill>
                  <a:srgbClr val="FF0000"/>
                </a:solidFill>
              </a:rPr>
              <a:t>）到数微法拉（</a:t>
            </a:r>
            <a:r>
              <a:rPr lang="en-US" altLang="zh-CN" dirty="0" err="1">
                <a:solidFill>
                  <a:srgbClr val="FF0000"/>
                </a:solidFill>
              </a:rPr>
              <a:t>μF</a:t>
            </a:r>
            <a:r>
              <a:rPr lang="zh-CN" altLang="zh-CN" dirty="0">
                <a:solidFill>
                  <a:srgbClr val="FF0000"/>
                </a:solidFill>
              </a:rPr>
              <a:t>）不等。</a:t>
            </a: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3" name="Rectangle 4">
            <a:extLst>
              <a:ext uri="{FF2B5EF4-FFF2-40B4-BE49-F238E27FC236}">
                <a16:creationId xmlns:a16="http://schemas.microsoft.com/office/drawing/2014/main" id="{E112FA1E-4DF4-2EE2-361C-0F32836ECF49}"/>
              </a:ext>
            </a:extLst>
          </p:cNvPr>
          <p:cNvSpPr>
            <a:spLocks noChangeArrowheads="1"/>
          </p:cNvSpPr>
          <p:nvPr/>
        </p:nvSpPr>
        <p:spPr bwMode="auto">
          <a:xfrm>
            <a:off x="5918746" y="1891022"/>
            <a:ext cx="5458865" cy="1783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2)</a:t>
            </a:r>
            <a:r>
              <a:rPr lang="zh-CN" altLang="zh-CN" dirty="0">
                <a:solidFill>
                  <a:srgbClr val="FF0000"/>
                </a:solidFill>
              </a:rPr>
              <a:t>电压额定值：电压额定值表示云母电容器所能承受的最大工作电压。超过该额定电压值可能导致电容器击穿或损坏。因此，在选择云母电容时，需要确保其电压额定值足够满足实际电路中的工作电压要求。</a:t>
            </a:r>
          </a:p>
          <a:p>
            <a:r>
              <a:rPr lang="en-US" altLang="zh-CN" dirty="0">
                <a:solidFill>
                  <a:srgbClr val="FF0000"/>
                </a:solidFill>
              </a:rPr>
              <a:t> </a:t>
            </a:r>
            <a:endParaRPr lang="zh-CN" altLang="zh-CN" dirty="0">
              <a:solidFill>
                <a:srgbClr val="FF0000"/>
              </a:solidFill>
            </a:endParaRPr>
          </a:p>
        </p:txBody>
      </p:sp>
      <p:sp>
        <p:nvSpPr>
          <p:cNvPr id="4" name="Rectangle 4">
            <a:extLst>
              <a:ext uri="{FF2B5EF4-FFF2-40B4-BE49-F238E27FC236}">
                <a16:creationId xmlns:a16="http://schemas.microsoft.com/office/drawing/2014/main" id="{B9A166D0-07D9-1B35-9047-983B751B097B}"/>
              </a:ext>
            </a:extLst>
          </p:cNvPr>
          <p:cNvSpPr>
            <a:spLocks noChangeArrowheads="1"/>
          </p:cNvSpPr>
          <p:nvPr/>
        </p:nvSpPr>
        <p:spPr bwMode="auto">
          <a:xfrm>
            <a:off x="1103313" y="4210038"/>
            <a:ext cx="5907610" cy="1773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3)</a:t>
            </a:r>
            <a:r>
              <a:rPr lang="zh-CN" altLang="zh-CN" dirty="0">
                <a:solidFill>
                  <a:srgbClr val="FF0000"/>
                </a:solidFill>
              </a:rPr>
              <a:t>温度系数：温度系数是一个描述电容值随温度变化的参数。它通常以百分比每摄氏度（</a:t>
            </a:r>
            <a:r>
              <a:rPr lang="en-US" altLang="zh-CN" dirty="0">
                <a:solidFill>
                  <a:srgbClr val="FF0000"/>
                </a:solidFill>
              </a:rPr>
              <a:t>%/℃</a:t>
            </a:r>
            <a:r>
              <a:rPr lang="zh-CN" altLang="zh-CN" dirty="0">
                <a:solidFill>
                  <a:srgbClr val="FF0000"/>
                </a:solidFill>
              </a:rPr>
              <a:t>）表示。了解云母电容的温度系数有助于预测在不同温度条件下电容值的变化，从而更好地适应实际应用环境。</a:t>
            </a:r>
          </a:p>
          <a:p>
            <a:r>
              <a:rPr lang="en-US" altLang="zh-CN" dirty="0">
                <a:solidFill>
                  <a:srgbClr val="FF0000"/>
                </a:solidFill>
              </a:rPr>
              <a:t> </a:t>
            </a:r>
            <a:endParaRPr lang="zh-CN" altLang="zh-CN" dirty="0">
              <a:solidFill>
                <a:srgbClr val="FF0000"/>
              </a:solidFill>
            </a:endParaRPr>
          </a:p>
          <a:p>
            <a:pPr lvl="0"/>
            <a:endParaRPr lang="zh-CN" altLang="zh-CN" dirty="0">
              <a:solidFill>
                <a:srgbClr val="FF0000"/>
              </a:solidFill>
            </a:endParaRPr>
          </a:p>
        </p:txBody>
      </p:sp>
      <p:sp>
        <p:nvSpPr>
          <p:cNvPr id="7" name="Rectangle 4">
            <a:extLst>
              <a:ext uri="{FF2B5EF4-FFF2-40B4-BE49-F238E27FC236}">
                <a16:creationId xmlns:a16="http://schemas.microsoft.com/office/drawing/2014/main" id="{3C878CF7-FD8B-C223-2C11-6319F7C21E02}"/>
              </a:ext>
            </a:extLst>
          </p:cNvPr>
          <p:cNvSpPr>
            <a:spLocks noChangeArrowheads="1"/>
          </p:cNvSpPr>
          <p:nvPr/>
        </p:nvSpPr>
        <p:spPr bwMode="auto">
          <a:xfrm>
            <a:off x="5985669" y="3994370"/>
            <a:ext cx="4572000" cy="1783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endParaRPr lang="zh-CN" altLang="zh-CN" dirty="0">
              <a:solidFill>
                <a:srgbClr val="FF0000"/>
              </a:solidFill>
            </a:endParaRPr>
          </a:p>
          <a:p>
            <a:r>
              <a:rPr lang="en-US" altLang="zh-CN" dirty="0">
                <a:solidFill>
                  <a:srgbClr val="FF0000"/>
                </a:solidFill>
              </a:rPr>
              <a:t> </a:t>
            </a:r>
            <a:endParaRPr lang="zh-CN" altLang="zh-CN" dirty="0">
              <a:solidFill>
                <a:srgbClr val="FF0000"/>
              </a:solidFill>
            </a:endParaRPr>
          </a:p>
        </p:txBody>
      </p:sp>
    </p:spTree>
    <p:extLst>
      <p:ext uri="{BB962C8B-B14F-4D97-AF65-F5344CB8AC3E}">
        <p14:creationId xmlns:p14="http://schemas.microsoft.com/office/powerpoint/2010/main" val="20615863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3" grpId="0" autoUpdateAnimBg="0"/>
      <p:bldP spid="4" grpId="0" autoUpdateAnimBg="0"/>
      <p:bldP spid="7"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596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103313" y="2746375"/>
            <a:ext cx="457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136197" name="Rectangle 5"/>
          <p:cNvSpPr>
            <a:spLocks noChangeArrowheads="1"/>
          </p:cNvSpPr>
          <p:nvPr/>
        </p:nvSpPr>
        <p:spPr bwMode="auto">
          <a:xfrm>
            <a:off x="748507" y="3241596"/>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2" name="Rectangle 5">
            <a:extLst>
              <a:ext uri="{FF2B5EF4-FFF2-40B4-BE49-F238E27FC236}">
                <a16:creationId xmlns:a16="http://schemas.microsoft.com/office/drawing/2014/main" id="{3ED0509C-9D4D-2FC5-F3DE-08F6CBD9ED86}"/>
              </a:ext>
            </a:extLst>
          </p:cNvPr>
          <p:cNvSpPr>
            <a:spLocks noChangeArrowheads="1"/>
          </p:cNvSpPr>
          <p:nvPr/>
        </p:nvSpPr>
        <p:spPr bwMode="auto">
          <a:xfrm>
            <a:off x="880271" y="3599627"/>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3" name="Rectangle 4">
            <a:extLst>
              <a:ext uri="{FF2B5EF4-FFF2-40B4-BE49-F238E27FC236}">
                <a16:creationId xmlns:a16="http://schemas.microsoft.com/office/drawing/2014/main" id="{24CF3B32-EDDD-F79A-40DD-FD6EC22B433D}"/>
              </a:ext>
            </a:extLst>
          </p:cNvPr>
          <p:cNvSpPr>
            <a:spLocks noChangeArrowheads="1"/>
          </p:cNvSpPr>
          <p:nvPr/>
        </p:nvSpPr>
        <p:spPr bwMode="auto">
          <a:xfrm>
            <a:off x="1775535" y="3241596"/>
            <a:ext cx="7226423" cy="184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5)</a:t>
            </a:r>
            <a:r>
              <a:rPr lang="zh-CN" altLang="zh-CN" dirty="0">
                <a:solidFill>
                  <a:srgbClr val="FF0000"/>
                </a:solidFill>
              </a:rPr>
              <a:t>工作频率范围：云母电容的工作频率范围是指它能够正常工作的频率范围。不同类型的云母电容具有不同的工作频率限制，因此应根据实际需求选择合适的电容型号以满足所需频率范围。</a:t>
            </a:r>
          </a:p>
          <a:p>
            <a:r>
              <a:rPr lang="en-US" altLang="zh-CN" dirty="0">
                <a:solidFill>
                  <a:srgbClr val="FF0000"/>
                </a:solidFill>
              </a:rPr>
              <a:t> </a:t>
            </a:r>
            <a:endParaRPr lang="zh-CN" altLang="zh-CN" dirty="0">
              <a:solidFill>
                <a:srgbClr val="FF0000"/>
              </a:solidFill>
            </a:endParaRPr>
          </a:p>
        </p:txBody>
      </p:sp>
      <p:sp>
        <p:nvSpPr>
          <p:cNvPr id="5" name="Rectangle 4">
            <a:extLst>
              <a:ext uri="{FF2B5EF4-FFF2-40B4-BE49-F238E27FC236}">
                <a16:creationId xmlns:a16="http://schemas.microsoft.com/office/drawing/2014/main" id="{183055E7-8D63-8CA9-1A8D-601915098C3D}"/>
              </a:ext>
            </a:extLst>
          </p:cNvPr>
          <p:cNvSpPr>
            <a:spLocks noChangeArrowheads="1"/>
          </p:cNvSpPr>
          <p:nvPr/>
        </p:nvSpPr>
        <p:spPr bwMode="auto">
          <a:xfrm>
            <a:off x="1775535" y="1243475"/>
            <a:ext cx="7226422" cy="1783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4)</a:t>
            </a:r>
            <a:r>
              <a:rPr lang="zh-CN" altLang="zh-CN" dirty="0">
                <a:solidFill>
                  <a:srgbClr val="FF0000"/>
                </a:solidFill>
              </a:rPr>
              <a:t>介质损耗因子：介质损耗因子是指电容器在工作频率下能量损失的程度。它反映了云母电容器的能量储存和释放效率。较低的介质损耗因子意味着电容器具有较高的能量传输效率和稳定性。</a:t>
            </a:r>
          </a:p>
          <a:p>
            <a:r>
              <a:rPr lang="en-US" altLang="zh-CN" dirty="0">
                <a:solidFill>
                  <a:srgbClr val="FF0000"/>
                </a:solidFill>
              </a:rPr>
              <a:t> </a:t>
            </a:r>
            <a:endParaRPr lang="zh-CN" altLang="zh-CN" dirty="0">
              <a:solidFill>
                <a:srgbClr val="FF0000"/>
              </a:solidFill>
            </a:endParaRPr>
          </a:p>
        </p:txBody>
      </p:sp>
    </p:spTree>
    <p:extLst>
      <p:ext uri="{BB962C8B-B14F-4D97-AF65-F5344CB8AC3E}">
        <p14:creationId xmlns:p14="http://schemas.microsoft.com/office/powerpoint/2010/main" val="13985212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2" grpId="0" autoUpdateAnimBg="0"/>
      <p:bldP spid="3" grpId="0" autoUpdateAnimBg="0"/>
      <p:bldP spid="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3.3</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云母电容的应用</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376039" y="1242568"/>
            <a:ext cx="9001957" cy="5003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1)</a:t>
            </a:r>
            <a:r>
              <a:rPr lang="zh-CN" altLang="zh-CN" dirty="0">
                <a:solidFill>
                  <a:srgbClr val="FF0000"/>
                </a:solidFill>
              </a:rPr>
              <a:t>无线电接发设备：云母电容器可以使设备与天线匹配，从而提高信号传输效率。</a:t>
            </a:r>
          </a:p>
          <a:p>
            <a:r>
              <a:rPr lang="en-US" altLang="zh-CN" dirty="0">
                <a:solidFill>
                  <a:srgbClr val="FF0000"/>
                </a:solidFill>
              </a:rPr>
              <a:t> </a:t>
            </a:r>
            <a:endParaRPr lang="zh-CN" altLang="zh-CN" dirty="0">
              <a:solidFill>
                <a:srgbClr val="FF0000"/>
              </a:solidFill>
            </a:endParaRPr>
          </a:p>
          <a:p>
            <a:pPr lvl="0"/>
            <a:r>
              <a:rPr lang="en-US" altLang="zh-CN" dirty="0">
                <a:solidFill>
                  <a:srgbClr val="FF0000"/>
                </a:solidFill>
              </a:rPr>
              <a:t>2)</a:t>
            </a:r>
            <a:r>
              <a:rPr lang="zh-CN" altLang="zh-CN" dirty="0">
                <a:solidFill>
                  <a:srgbClr val="FF0000"/>
                </a:solidFill>
              </a:rPr>
              <a:t>精密电子仪器：由于云母电容器的高稳定性和可靠性，它们常被用于精密电子仪器中。</a:t>
            </a:r>
          </a:p>
          <a:p>
            <a:r>
              <a:rPr lang="en-US" altLang="zh-CN" dirty="0">
                <a:solidFill>
                  <a:srgbClr val="FF0000"/>
                </a:solidFill>
              </a:rPr>
              <a:t> </a:t>
            </a:r>
            <a:endParaRPr lang="zh-CN" altLang="zh-CN" dirty="0">
              <a:solidFill>
                <a:srgbClr val="FF0000"/>
              </a:solidFill>
            </a:endParaRPr>
          </a:p>
          <a:p>
            <a:pPr lvl="0"/>
            <a:r>
              <a:rPr lang="en-US" altLang="zh-CN" dirty="0">
                <a:solidFill>
                  <a:srgbClr val="FF0000"/>
                </a:solidFill>
              </a:rPr>
              <a:t>3)</a:t>
            </a:r>
            <a:r>
              <a:rPr lang="zh-CN" altLang="zh-CN" dirty="0">
                <a:solidFill>
                  <a:srgbClr val="FF0000"/>
                </a:solidFill>
              </a:rPr>
              <a:t>现代通讯仪器仪表及设备：云母电容器在通讯设备中的应用也非常广泛，包括电话、电视、广播等设备。</a:t>
            </a:r>
          </a:p>
          <a:p>
            <a:r>
              <a:rPr lang="en-US" altLang="zh-CN" dirty="0">
                <a:solidFill>
                  <a:srgbClr val="FF0000"/>
                </a:solidFill>
              </a:rPr>
              <a:t> </a:t>
            </a:r>
            <a:endParaRPr lang="zh-CN" altLang="zh-CN" dirty="0">
              <a:solidFill>
                <a:srgbClr val="FF0000"/>
              </a:solidFill>
            </a:endParaRPr>
          </a:p>
          <a:p>
            <a:pPr lvl="0"/>
            <a:r>
              <a:rPr lang="en-US" altLang="zh-CN" dirty="0">
                <a:solidFill>
                  <a:srgbClr val="FF0000"/>
                </a:solidFill>
              </a:rPr>
              <a:t>4)</a:t>
            </a:r>
            <a:r>
              <a:rPr lang="zh-CN" altLang="zh-CN" dirty="0">
                <a:solidFill>
                  <a:srgbClr val="FF0000"/>
                </a:solidFill>
              </a:rPr>
              <a:t>收音机、功放机、电视机：云母电容器在这些设备中的应用主要是用于调谐和滤波。</a:t>
            </a:r>
          </a:p>
          <a:p>
            <a:r>
              <a:rPr lang="en-US" altLang="zh-CN" dirty="0">
                <a:solidFill>
                  <a:srgbClr val="FF0000"/>
                </a:solidFill>
              </a:rPr>
              <a:t> </a:t>
            </a:r>
            <a:endParaRPr lang="zh-CN" altLang="zh-CN" dirty="0">
              <a:solidFill>
                <a:srgbClr val="FF0000"/>
              </a:solidFill>
            </a:endParaRPr>
          </a:p>
          <a:p>
            <a:pPr lvl="0"/>
            <a:r>
              <a:rPr lang="en-US" altLang="zh-CN" dirty="0">
                <a:solidFill>
                  <a:srgbClr val="FF0000"/>
                </a:solidFill>
              </a:rPr>
              <a:t>5)</a:t>
            </a:r>
            <a:r>
              <a:rPr lang="zh-CN" altLang="zh-CN" dirty="0">
                <a:solidFill>
                  <a:srgbClr val="FF0000"/>
                </a:solidFill>
              </a:rPr>
              <a:t>稳压电源：云母电容器可以用于稳压电源中，以控制对所需电压的变化。</a:t>
            </a:r>
          </a:p>
          <a:p>
            <a:r>
              <a:rPr lang="en-US" altLang="zh-CN" dirty="0">
                <a:solidFill>
                  <a:srgbClr val="FF0000"/>
                </a:solidFill>
              </a:rPr>
              <a:t> </a:t>
            </a:r>
            <a:endParaRPr lang="zh-CN" altLang="zh-CN" dirty="0">
              <a:solidFill>
                <a:srgbClr val="FF0000"/>
              </a:solidFill>
            </a:endParaRPr>
          </a:p>
          <a:p>
            <a:pPr lvl="0"/>
            <a:r>
              <a:rPr lang="en-US" altLang="zh-CN" dirty="0">
                <a:solidFill>
                  <a:srgbClr val="FF0000"/>
                </a:solidFill>
              </a:rPr>
              <a:t>6)</a:t>
            </a:r>
            <a:r>
              <a:rPr lang="zh-CN" altLang="zh-CN" dirty="0">
                <a:solidFill>
                  <a:srgbClr val="FF0000"/>
                </a:solidFill>
              </a:rPr>
              <a:t>此外，由于云母具有较高的电绝缘性、较好的透明度、极好的可剥分性、较高的化学稳定性、较好的还原性以及在高温状态下能保持上述优良的物理化学性能，因此它主要作为一种非常重要的绝缘材料广泛用于电子、电机、电讯、电器、航空、交通、仪表、冶金、建材、轻工等工业部门，以及国防和尖端工业领域。</a:t>
            </a:r>
          </a:p>
          <a:p>
            <a:r>
              <a:rPr lang="en-US" altLang="zh-CN" dirty="0"/>
              <a:t> </a:t>
            </a:r>
            <a:endParaRPr lang="zh-CN" altLang="zh-CN" dirty="0"/>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Tree>
    <p:extLst>
      <p:ext uri="{BB962C8B-B14F-4D97-AF65-F5344CB8AC3E}">
        <p14:creationId xmlns:p14="http://schemas.microsoft.com/office/powerpoint/2010/main" val="17155402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847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a:t>
            </a:r>
            <a:r>
              <a:rPr kumimoji="1" lang="en-US" altLang="zh-CN"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4</a:t>
            </a:r>
            <a:r>
              <a:rPr kumimoji="1" lang="zh-CN" altLang="en-US"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玻璃釉电容</a:t>
            </a:r>
            <a:endParaRPr kumimoji="1" lang="zh-CN" altLang="en-US" sz="40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169194" y="2100532"/>
            <a:ext cx="4572000" cy="2656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zh-CN" altLang="zh-CN" dirty="0">
                <a:solidFill>
                  <a:srgbClr val="FF0000"/>
                </a:solidFill>
              </a:rPr>
              <a:t>玻璃釉电容：这种电容器是利用玻璃釉粉加压制成的薄片作为介质来实现现储能的。玻玻璃釉具有良好的介质介电系数大、体积小、损耗较小等特点，因此可以制成各种规格和形式的玻玻璃釉电容。这种方式可以实现低损耗、低</a:t>
            </a:r>
            <a:r>
              <a:rPr lang="en-US" altLang="zh-CN" dirty="0">
                <a:solidFill>
                  <a:srgbClr val="FF0000"/>
                </a:solidFill>
              </a:rPr>
              <a:t>ESR</a:t>
            </a:r>
            <a:r>
              <a:rPr lang="zh-CN" altLang="zh-CN" dirty="0">
                <a:solidFill>
                  <a:srgbClr val="FF0000"/>
                </a:solidFill>
              </a:rPr>
              <a:t>（等效串联阻抗）、小体积等优点，但也有一些缺点，比如需要使用外部直流源、易受温度和湿度影响、价格较高等。</a:t>
            </a: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pic>
        <p:nvPicPr>
          <p:cNvPr id="4" name="图片 3">
            <a:extLst>
              <a:ext uri="{FF2B5EF4-FFF2-40B4-BE49-F238E27FC236}">
                <a16:creationId xmlns:a16="http://schemas.microsoft.com/office/drawing/2014/main" id="{51CCEE78-FF7D-184A-FDEC-7FDB4FB434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9763" y="1298650"/>
            <a:ext cx="4467849" cy="4467849"/>
          </a:xfrm>
          <a:prstGeom prst="rect">
            <a:avLst/>
          </a:prstGeom>
        </p:spPr>
      </p:pic>
    </p:spTree>
    <p:extLst>
      <p:ext uri="{BB962C8B-B14F-4D97-AF65-F5344CB8AC3E}">
        <p14:creationId xmlns:p14="http://schemas.microsoft.com/office/powerpoint/2010/main" val="18797020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4.1</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玻璃釉电容特性</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6" name="Rectangle 4">
            <a:extLst>
              <a:ext uri="{FF2B5EF4-FFF2-40B4-BE49-F238E27FC236}">
                <a16:creationId xmlns:a16="http://schemas.microsoft.com/office/drawing/2014/main" id="{866404B3-4628-1F91-12DB-AF48D79A2E8E}"/>
              </a:ext>
            </a:extLst>
          </p:cNvPr>
          <p:cNvSpPr>
            <a:spLocks noChangeArrowheads="1"/>
          </p:cNvSpPr>
          <p:nvPr/>
        </p:nvSpPr>
        <p:spPr bwMode="auto">
          <a:xfrm>
            <a:off x="1025525" y="1482713"/>
            <a:ext cx="4572000" cy="2318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1)</a:t>
            </a:r>
            <a:r>
              <a:rPr lang="zh-CN" altLang="zh-CN" sz="2400" b="1" dirty="0">
                <a:solidFill>
                  <a:srgbClr val="C00000"/>
                </a:solidFill>
                <a:latin typeface="微软雅黑" panose="020B0503020204020204" pitchFamily="34" charset="-122"/>
                <a:ea typeface="微软雅黑" panose="020B0503020204020204" pitchFamily="34" charset="-122"/>
              </a:rPr>
              <a:t>介质材料： 玻璃釉电容的主要特点之一是其釉层，这是一种介电材料。这种介电材料通常是玻璃，因此这种电容器也被称为玻璃釉电容。釉层的质量和性能直接影响电容器的性能</a:t>
            </a:r>
          </a:p>
        </p:txBody>
      </p:sp>
      <p:sp>
        <p:nvSpPr>
          <p:cNvPr id="9" name="Rectangle 4">
            <a:extLst>
              <a:ext uri="{FF2B5EF4-FFF2-40B4-BE49-F238E27FC236}">
                <a16:creationId xmlns:a16="http://schemas.microsoft.com/office/drawing/2014/main" id="{92030A65-24C7-52B3-C4FA-0EC5CE1194F6}"/>
              </a:ext>
            </a:extLst>
          </p:cNvPr>
          <p:cNvSpPr>
            <a:spLocks noChangeArrowheads="1"/>
          </p:cNvSpPr>
          <p:nvPr/>
        </p:nvSpPr>
        <p:spPr bwMode="auto">
          <a:xfrm>
            <a:off x="6551216" y="1276889"/>
            <a:ext cx="4572000" cy="2656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2)</a:t>
            </a:r>
            <a:r>
              <a:rPr lang="zh-CN" altLang="zh-CN" sz="2400" b="1" dirty="0">
                <a:solidFill>
                  <a:srgbClr val="C00000"/>
                </a:solidFill>
                <a:latin typeface="微软雅黑" panose="020B0503020204020204" pitchFamily="34" charset="-122"/>
                <a:ea typeface="微软雅黑" panose="020B0503020204020204" pitchFamily="34" charset="-122"/>
              </a:rPr>
              <a:t>稳定性： 玻璃釉电容器通常具有较高的温度稳定性和频率稳定性。它们在不同温度和频率下的电性能力相对较好，这使得它们在各种环境条件下都能可靠地工作。</a:t>
            </a:r>
          </a:p>
          <a:p>
            <a:r>
              <a:rPr lang="en-US" altLang="zh-CN" dirty="0"/>
              <a:t> </a:t>
            </a:r>
            <a:endParaRPr lang="zh-CN" altLang="zh-CN" dirty="0"/>
          </a:p>
        </p:txBody>
      </p:sp>
      <p:sp>
        <p:nvSpPr>
          <p:cNvPr id="10" name="Rectangle 4">
            <a:extLst>
              <a:ext uri="{FF2B5EF4-FFF2-40B4-BE49-F238E27FC236}">
                <a16:creationId xmlns:a16="http://schemas.microsoft.com/office/drawing/2014/main" id="{A26773FE-4D69-1DF4-B354-AF7F47881556}"/>
              </a:ext>
            </a:extLst>
          </p:cNvPr>
          <p:cNvSpPr>
            <a:spLocks noChangeArrowheads="1"/>
          </p:cNvSpPr>
          <p:nvPr/>
        </p:nvSpPr>
        <p:spPr bwMode="auto">
          <a:xfrm>
            <a:off x="958789" y="3765438"/>
            <a:ext cx="4782406" cy="1925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sz="2400" b="1" dirty="0">
                <a:solidFill>
                  <a:srgbClr val="C00000"/>
                </a:solidFill>
                <a:latin typeface="微软雅黑" panose="020B0503020204020204" pitchFamily="34" charset="-122"/>
                <a:ea typeface="微软雅黑" panose="020B0503020204020204" pitchFamily="34" charset="-122"/>
              </a:rPr>
              <a:t>3)</a:t>
            </a:r>
            <a:r>
              <a:rPr lang="zh-CN" altLang="zh-CN" sz="2400" b="1" dirty="0">
                <a:solidFill>
                  <a:srgbClr val="C00000"/>
                </a:solidFill>
                <a:latin typeface="微软雅黑" panose="020B0503020204020204" pitchFamily="34" charset="-122"/>
                <a:ea typeface="微软雅黑" panose="020B0503020204020204" pitchFamily="34" charset="-122"/>
              </a:rPr>
              <a:t>耐久性： 玻璃釉电容器的外壳通常由金属或塑料制成，这使得它们相对耐久。釉层的陶瓷性质也有助于提高电容器的耐久性</a:t>
            </a:r>
          </a:p>
        </p:txBody>
      </p:sp>
    </p:spTree>
    <p:extLst>
      <p:ext uri="{BB962C8B-B14F-4D97-AF65-F5344CB8AC3E}">
        <p14:creationId xmlns:p14="http://schemas.microsoft.com/office/powerpoint/2010/main" val="33155604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7"/>
                                        </p:tgtEl>
                                        <p:attrNameLst>
                                          <p:attrName>style.visibility</p:attrName>
                                        </p:attrNameLst>
                                      </p:cBhvr>
                                      <p:to>
                                        <p:strVal val="visible"/>
                                      </p:to>
                                    </p:set>
                                    <p:animEffect transition="in" filter="wipe(left)">
                                      <p:cBhvr>
                                        <p:cTn id="7" dur="500"/>
                                        <p:tgtEl>
                                          <p:spTgt spid="1361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7" grpId="0" autoUpdateAnimBg="0"/>
      <p:bldP spid="6" grpId="0" autoUpdateAnimBg="0"/>
      <p:bldP spid="9" grpId="0" autoUpdateAnimBg="0"/>
      <p:bldP spid="10"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4.2</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玻璃釉电容的性能参数</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343010" y="1846251"/>
            <a:ext cx="9691580" cy="2612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1)</a:t>
            </a:r>
            <a:r>
              <a:rPr lang="zh-CN" altLang="zh-CN" dirty="0">
                <a:solidFill>
                  <a:srgbClr val="FF0000"/>
                </a:solidFill>
              </a:rPr>
              <a:t>电容值： 玻璃釉电容器的电容值通常相对较小，适用于低频应用。它们通常用于耦合、解耦和滤波电路，而不是高容值的应用。</a:t>
            </a:r>
          </a:p>
          <a:p>
            <a:r>
              <a:rPr lang="en-US" altLang="zh-CN" dirty="0">
                <a:solidFill>
                  <a:srgbClr val="FF0000"/>
                </a:solidFill>
              </a:rPr>
              <a:t> </a:t>
            </a:r>
            <a:endParaRPr lang="zh-CN" altLang="zh-CN" dirty="0">
              <a:solidFill>
                <a:srgbClr val="FF0000"/>
              </a:solidFill>
            </a:endParaRPr>
          </a:p>
          <a:p>
            <a:pPr lvl="0"/>
            <a:r>
              <a:rPr lang="en-US" altLang="zh-CN" dirty="0">
                <a:solidFill>
                  <a:srgbClr val="FF0000"/>
                </a:solidFill>
              </a:rPr>
              <a:t>2)</a:t>
            </a:r>
            <a:r>
              <a:rPr lang="zh-CN" altLang="zh-CN" dirty="0">
                <a:solidFill>
                  <a:srgbClr val="FF0000"/>
                </a:solidFill>
              </a:rPr>
              <a:t>工作电压： 玻璃釉电容器通常适用于低至中等的工作电压范围。高电压应用可能需要使用其他类型的电容器。</a:t>
            </a:r>
          </a:p>
          <a:p>
            <a:r>
              <a:rPr lang="en-US" altLang="zh-CN" dirty="0">
                <a:solidFill>
                  <a:srgbClr val="FF0000"/>
                </a:solidFill>
              </a:rPr>
              <a:t> </a:t>
            </a:r>
            <a:endParaRPr lang="zh-CN" altLang="zh-CN" dirty="0">
              <a:solidFill>
                <a:srgbClr val="FF0000"/>
              </a:solidFill>
            </a:endParaRPr>
          </a:p>
          <a:p>
            <a:pPr lvl="0"/>
            <a:r>
              <a:rPr lang="en-US" altLang="zh-CN" dirty="0">
                <a:solidFill>
                  <a:srgbClr val="FF0000"/>
                </a:solidFill>
              </a:rPr>
              <a:t>3)</a:t>
            </a:r>
            <a:r>
              <a:rPr lang="zh-CN" altLang="zh-CN" dirty="0">
                <a:solidFill>
                  <a:srgbClr val="FF0000"/>
                </a:solidFill>
              </a:rPr>
              <a:t>温度系数： 玻璃釉电容器的温度系数较小，这意味着它们对温度变化的响应较低。这有助于在不同温度下保持电容器的性能。</a:t>
            </a: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Tree>
    <p:extLst>
      <p:ext uri="{BB962C8B-B14F-4D97-AF65-F5344CB8AC3E}">
        <p14:creationId xmlns:p14="http://schemas.microsoft.com/office/powerpoint/2010/main" val="29677323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6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4.3</a:t>
            </a:r>
            <a:r>
              <a:rPr kumimoji="1" lang="zh-CN" altLang="en-US"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玻璃釉电容的典型应用</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351887" y="1767619"/>
            <a:ext cx="7854255" cy="332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1)</a:t>
            </a:r>
            <a:r>
              <a:rPr lang="zh-CN" altLang="zh-CN" dirty="0">
                <a:solidFill>
                  <a:srgbClr val="FF0000"/>
                </a:solidFill>
              </a:rPr>
              <a:t>电子电路：玻璃釉电容器在电子电路中常用于隔离、耦合、滤波和去耦等功能。它们可以用于电源滤波电路、放大电路、稳压电路等，起到提供稳定电容性能的作用。</a:t>
            </a:r>
          </a:p>
          <a:p>
            <a:r>
              <a:rPr lang="en-US" altLang="zh-CN" dirty="0">
                <a:solidFill>
                  <a:srgbClr val="FF0000"/>
                </a:solidFill>
              </a:rPr>
              <a:t> </a:t>
            </a:r>
            <a:endParaRPr lang="zh-CN" altLang="zh-CN" dirty="0">
              <a:solidFill>
                <a:srgbClr val="FF0000"/>
              </a:solidFill>
            </a:endParaRPr>
          </a:p>
          <a:p>
            <a:pPr lvl="0"/>
            <a:r>
              <a:rPr lang="en-US" altLang="zh-CN" dirty="0">
                <a:solidFill>
                  <a:srgbClr val="FF0000"/>
                </a:solidFill>
              </a:rPr>
              <a:t>2)</a:t>
            </a:r>
            <a:r>
              <a:rPr lang="zh-CN" altLang="zh-CN" dirty="0">
                <a:solidFill>
                  <a:srgbClr val="FF0000"/>
                </a:solidFill>
              </a:rPr>
              <a:t>电力设备：玻璃釉电容器在电力设备中用于电力传输和配电系统。它们可以用于高压开关、断路器和变压器等设备中，提供高稳定性和可靠性的电容支持。</a:t>
            </a:r>
          </a:p>
          <a:p>
            <a:r>
              <a:rPr lang="en-US" altLang="zh-CN" dirty="0">
                <a:solidFill>
                  <a:srgbClr val="FF0000"/>
                </a:solidFill>
              </a:rPr>
              <a:t> </a:t>
            </a:r>
            <a:endParaRPr lang="zh-CN" altLang="zh-CN" dirty="0">
              <a:solidFill>
                <a:srgbClr val="FF0000"/>
              </a:solidFill>
            </a:endParaRPr>
          </a:p>
          <a:p>
            <a:pPr lvl="0"/>
            <a:r>
              <a:rPr lang="en-US" altLang="zh-CN" dirty="0">
                <a:solidFill>
                  <a:srgbClr val="FF0000"/>
                </a:solidFill>
              </a:rPr>
              <a:t>3)</a:t>
            </a:r>
            <a:r>
              <a:rPr lang="zh-CN" altLang="zh-CN" dirty="0">
                <a:solidFill>
                  <a:srgbClr val="FF0000"/>
                </a:solidFill>
              </a:rPr>
              <a:t>通信系统：玻璃釉电容器在通信系统中常用于滤波、隔离和匹配等功能。它们可以用于调制解调器、光纤通信设备、天线等，确保信号传输的稳定和可靠。</a:t>
            </a: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Tree>
    <p:extLst>
      <p:ext uri="{BB962C8B-B14F-4D97-AF65-F5344CB8AC3E}">
        <p14:creationId xmlns:p14="http://schemas.microsoft.com/office/powerpoint/2010/main" val="25631967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596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976761" y="1735511"/>
            <a:ext cx="8383480" cy="3590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4)</a:t>
            </a:r>
            <a:r>
              <a:rPr lang="zh-CN" altLang="zh-CN" dirty="0">
                <a:solidFill>
                  <a:srgbClr val="FF0000"/>
                </a:solidFill>
              </a:rPr>
              <a:t>工控设备：玻璃釉电容器在工业控制设备中也有广泛应用。它们可以用于传感器电路、</a:t>
            </a:r>
            <a:r>
              <a:rPr lang="en-US" altLang="zh-CN" dirty="0">
                <a:solidFill>
                  <a:srgbClr val="FF0000"/>
                </a:solidFill>
              </a:rPr>
              <a:t>PLC</a:t>
            </a:r>
            <a:r>
              <a:rPr lang="zh-CN" altLang="zh-CN" dirty="0">
                <a:solidFill>
                  <a:srgbClr val="FF0000"/>
                </a:solidFill>
              </a:rPr>
              <a:t>（可编程逻辑控制器）、变频器等设备中，提供稳定的电容支持。</a:t>
            </a:r>
          </a:p>
          <a:p>
            <a:r>
              <a:rPr lang="en-US" altLang="zh-CN" dirty="0">
                <a:solidFill>
                  <a:srgbClr val="FF0000"/>
                </a:solidFill>
              </a:rPr>
              <a:t> </a:t>
            </a:r>
            <a:endParaRPr lang="zh-CN" altLang="zh-CN" dirty="0">
              <a:solidFill>
                <a:srgbClr val="FF0000"/>
              </a:solidFill>
            </a:endParaRPr>
          </a:p>
          <a:p>
            <a:pPr lvl="0"/>
            <a:r>
              <a:rPr lang="en-US" altLang="zh-CN" dirty="0">
                <a:solidFill>
                  <a:srgbClr val="FF0000"/>
                </a:solidFill>
              </a:rPr>
              <a:t>5)</a:t>
            </a:r>
            <a:r>
              <a:rPr lang="zh-CN" altLang="zh-CN" dirty="0">
                <a:solidFill>
                  <a:srgbClr val="FF0000"/>
                </a:solidFill>
              </a:rPr>
              <a:t>汽车电子：玻璃釉电容器在汽车电子领域具有重要的应用。它们可用于车载音响系统、导航系统、发动机控制单元等，提供稳定的电容性能和抗振动能力。</a:t>
            </a:r>
          </a:p>
          <a:p>
            <a:r>
              <a:rPr lang="en-US" altLang="zh-CN" dirty="0">
                <a:solidFill>
                  <a:srgbClr val="FF0000"/>
                </a:solidFill>
              </a:rPr>
              <a:t> </a:t>
            </a:r>
            <a:endParaRPr lang="zh-CN" altLang="zh-CN" dirty="0">
              <a:solidFill>
                <a:srgbClr val="FF0000"/>
              </a:solidFill>
            </a:endParaRPr>
          </a:p>
          <a:p>
            <a:pPr lvl="0"/>
            <a:r>
              <a:rPr lang="en-US" altLang="zh-CN" dirty="0">
                <a:solidFill>
                  <a:srgbClr val="FF0000"/>
                </a:solidFill>
              </a:rPr>
              <a:t>6)</a:t>
            </a:r>
            <a:r>
              <a:rPr lang="zh-CN" altLang="zh-CN" dirty="0">
                <a:solidFill>
                  <a:srgbClr val="FF0000"/>
                </a:solidFill>
              </a:rPr>
              <a:t>医疗设备：玻璃釉电容器在医疗设备中也有广泛的使用。它们可用于心脏起搏器、医疗成像设备、生命支持系统等，以确保这些设备的稳定性和可靠性。</a:t>
            </a:r>
          </a:p>
          <a:p>
            <a:r>
              <a:rPr lang="en-US" altLang="zh-CN" dirty="0">
                <a:solidFill>
                  <a:srgbClr val="FF0000"/>
                </a:solidFill>
              </a:rPr>
              <a:t> </a:t>
            </a:r>
            <a:endParaRPr lang="zh-CN" altLang="zh-CN" dirty="0">
              <a:solidFill>
                <a:srgbClr val="FF0000"/>
              </a:solidFill>
            </a:endParaRPr>
          </a:p>
          <a:p>
            <a:pPr lvl="0"/>
            <a:r>
              <a:rPr lang="en-US" altLang="zh-CN" dirty="0">
                <a:solidFill>
                  <a:srgbClr val="FF0000"/>
                </a:solidFill>
              </a:rPr>
              <a:t>7)</a:t>
            </a:r>
            <a:r>
              <a:rPr lang="zh-CN" altLang="zh-CN" dirty="0">
                <a:solidFill>
                  <a:srgbClr val="FF0000"/>
                </a:solidFill>
              </a:rPr>
              <a:t>航空航天：玻璃釉电容器在航空航天领域扮演着重要的角色。它们可用于飞行器的导航系统、通信系统、电源系统等，满足高温、低温、高空气压等苛刻环境下的要求。</a:t>
            </a: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Tree>
    <p:extLst>
      <p:ext uri="{BB962C8B-B14F-4D97-AF65-F5344CB8AC3E}">
        <p14:creationId xmlns:p14="http://schemas.microsoft.com/office/powerpoint/2010/main" val="10131705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847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5</a:t>
            </a:r>
            <a:r>
              <a:rPr kumimoji="1" lang="zh-CN" altLang="en-US"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电容器的选用</a:t>
            </a:r>
            <a:endParaRPr kumimoji="1" lang="zh-CN" altLang="en-US" sz="40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103312" y="1722587"/>
            <a:ext cx="8466815" cy="168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1)</a:t>
            </a:r>
            <a:r>
              <a:rPr lang="zh-CN" altLang="zh-CN" dirty="0">
                <a:solidFill>
                  <a:srgbClr val="FF0000"/>
                </a:solidFill>
              </a:rPr>
              <a:t>电解电容</a:t>
            </a:r>
          </a:p>
          <a:p>
            <a:pPr lvl="0"/>
            <a:r>
              <a:rPr lang="zh-CN" altLang="zh-CN" dirty="0">
                <a:solidFill>
                  <a:srgbClr val="FF0000"/>
                </a:solidFill>
              </a:rPr>
              <a:t>应用：电解电容器常用于隔直流、旁路（去耦）、耦合、滤波等。它们广泛应用于电解质电容器、直流电源和电解电池中，用于电源平滑、直流电路和滤波器中。</a:t>
            </a:r>
          </a:p>
          <a:p>
            <a:r>
              <a:rPr lang="en-US" altLang="zh-CN" dirty="0">
                <a:solidFill>
                  <a:srgbClr val="FF0000"/>
                </a:solidFill>
              </a:rPr>
              <a:t> </a:t>
            </a:r>
            <a:endParaRPr lang="zh-CN" altLang="zh-CN" dirty="0">
              <a:solidFill>
                <a:srgbClr val="FF0000"/>
              </a:solidFill>
            </a:endParaRPr>
          </a:p>
          <a:p>
            <a:pPr lvl="0"/>
            <a:r>
              <a:rPr lang="zh-CN" altLang="zh-CN" dirty="0">
                <a:solidFill>
                  <a:srgbClr val="FF0000"/>
                </a:solidFill>
              </a:rPr>
              <a:t>选择：在选用电解电容器时，应使额定工作电压高于实际工作电压，并留有足够的余量，一般应使额定工作电压大于实际工作电压的</a:t>
            </a:r>
            <a:r>
              <a:rPr lang="en-US" altLang="zh-CN" dirty="0">
                <a:solidFill>
                  <a:srgbClr val="FF0000"/>
                </a:solidFill>
              </a:rPr>
              <a:t>1.5</a:t>
            </a:r>
            <a:r>
              <a:rPr lang="zh-CN" altLang="zh-CN" dirty="0">
                <a:solidFill>
                  <a:srgbClr val="FF0000"/>
                </a:solidFill>
              </a:rPr>
              <a:t>到</a:t>
            </a:r>
            <a:r>
              <a:rPr lang="en-US" altLang="zh-CN" dirty="0">
                <a:solidFill>
                  <a:srgbClr val="FF0000"/>
                </a:solidFill>
              </a:rPr>
              <a:t>3</a:t>
            </a:r>
            <a:r>
              <a:rPr lang="zh-CN" altLang="zh-CN" dirty="0">
                <a:solidFill>
                  <a:srgbClr val="FF0000"/>
                </a:solidFill>
              </a:rPr>
              <a:t>倍较为合适。</a:t>
            </a: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3" name="Rectangle 4">
            <a:extLst>
              <a:ext uri="{FF2B5EF4-FFF2-40B4-BE49-F238E27FC236}">
                <a16:creationId xmlns:a16="http://schemas.microsoft.com/office/drawing/2014/main" id="{93597E41-44B3-5A08-44DE-4999BFF65D3A}"/>
              </a:ext>
            </a:extLst>
          </p:cNvPr>
          <p:cNvSpPr>
            <a:spLocks noChangeArrowheads="1"/>
          </p:cNvSpPr>
          <p:nvPr/>
        </p:nvSpPr>
        <p:spPr bwMode="auto">
          <a:xfrm>
            <a:off x="1103312" y="3619500"/>
            <a:ext cx="8619215" cy="2017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2)</a:t>
            </a:r>
            <a:r>
              <a:rPr lang="zh-CN" altLang="zh-CN" dirty="0">
                <a:solidFill>
                  <a:srgbClr val="FF0000"/>
                </a:solidFill>
              </a:rPr>
              <a:t>瓷介电容：</a:t>
            </a:r>
          </a:p>
          <a:p>
            <a:pPr lvl="0"/>
            <a:r>
              <a:rPr lang="zh-CN" altLang="zh-CN" dirty="0">
                <a:solidFill>
                  <a:srgbClr val="FF0000"/>
                </a:solidFill>
              </a:rPr>
              <a:t>应用：瓷介电容器用于调谐回路和需要补偿效应的电路，也适用于旁路、耦合、隔直流和滤波电路。它们通常被用于直流和低频交流信号的耦合、滤波和去耦等应用中。</a:t>
            </a:r>
          </a:p>
          <a:p>
            <a:r>
              <a:rPr lang="en-US" altLang="zh-CN" dirty="0">
                <a:solidFill>
                  <a:srgbClr val="FF0000"/>
                </a:solidFill>
              </a:rPr>
              <a:t> </a:t>
            </a:r>
            <a:endParaRPr lang="zh-CN" altLang="zh-CN" dirty="0">
              <a:solidFill>
                <a:srgbClr val="FF0000"/>
              </a:solidFill>
            </a:endParaRPr>
          </a:p>
          <a:p>
            <a:r>
              <a:rPr lang="zh-CN" altLang="zh-CN" dirty="0">
                <a:solidFill>
                  <a:srgbClr val="FF0000"/>
                </a:solidFill>
              </a:rPr>
              <a:t>选择：选择</a:t>
            </a:r>
            <a:r>
              <a:rPr lang="en-US" altLang="zh-CN" dirty="0">
                <a:solidFill>
                  <a:srgbClr val="FF0000"/>
                </a:solidFill>
              </a:rPr>
              <a:t>NPO/COG</a:t>
            </a:r>
            <a:r>
              <a:rPr lang="zh-CN" altLang="zh-CN" dirty="0">
                <a:solidFill>
                  <a:srgbClr val="FF0000"/>
                </a:solidFill>
              </a:rPr>
              <a:t>高频材质的贴片陶瓷电容（外观看起来是白色的）。尽量选择小封装的电容（封装小的器件寄生参数小）</a:t>
            </a:r>
          </a:p>
        </p:txBody>
      </p:sp>
    </p:spTree>
    <p:extLst>
      <p:ext uri="{BB962C8B-B14F-4D97-AF65-F5344CB8AC3E}">
        <p14:creationId xmlns:p14="http://schemas.microsoft.com/office/powerpoint/2010/main" val="384091301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3"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596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a:t>
            </a:r>
            <a:endParaRPr kumimoji="1" lang="zh-CN" altLang="en-US" sz="24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103313" y="2746375"/>
            <a:ext cx="457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
        <p:nvSpPr>
          <p:cNvPr id="2" name="Rectangle 4">
            <a:extLst>
              <a:ext uri="{FF2B5EF4-FFF2-40B4-BE49-F238E27FC236}">
                <a16:creationId xmlns:a16="http://schemas.microsoft.com/office/drawing/2014/main" id="{1250C241-186D-C551-3B90-DFA3CEFA4ACB}"/>
              </a:ext>
            </a:extLst>
          </p:cNvPr>
          <p:cNvSpPr>
            <a:spLocks noChangeArrowheads="1"/>
          </p:cNvSpPr>
          <p:nvPr/>
        </p:nvSpPr>
        <p:spPr bwMode="auto">
          <a:xfrm>
            <a:off x="1246187" y="3404511"/>
            <a:ext cx="8619215" cy="2314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4)</a:t>
            </a:r>
            <a:r>
              <a:rPr lang="zh-CN" altLang="zh-CN" dirty="0">
                <a:solidFill>
                  <a:srgbClr val="FF0000"/>
                </a:solidFill>
              </a:rPr>
              <a:t>玻璃釉电容</a:t>
            </a:r>
          </a:p>
          <a:p>
            <a:pPr lvl="0"/>
            <a:r>
              <a:rPr lang="zh-CN" altLang="zh-CN" dirty="0">
                <a:solidFill>
                  <a:srgbClr val="FF0000"/>
                </a:solidFill>
              </a:rPr>
              <a:t>应用：玻璃釉电容器适合半导体电路和小型电子仪器中的交、直流电路或脉冲电路使用。例如，它可以用于滤波电路中，帮助去除电路中的杂波信号。此外，玻璃釉电容器还可以用于振荡电路中，帮助产生稳定的振荡信号。</a:t>
            </a:r>
          </a:p>
          <a:p>
            <a:r>
              <a:rPr lang="en-US" altLang="zh-CN" dirty="0">
                <a:solidFill>
                  <a:srgbClr val="FF0000"/>
                </a:solidFill>
              </a:rPr>
              <a:t> </a:t>
            </a:r>
            <a:endParaRPr lang="zh-CN" altLang="zh-CN" dirty="0">
              <a:solidFill>
                <a:srgbClr val="FF0000"/>
              </a:solidFill>
            </a:endParaRPr>
          </a:p>
          <a:p>
            <a:pPr lvl="0"/>
            <a:r>
              <a:rPr lang="zh-CN" altLang="zh-CN" dirty="0">
                <a:solidFill>
                  <a:srgbClr val="FF0000"/>
                </a:solidFill>
              </a:rPr>
              <a:t>选择：在选择输入电容器时，重点考虑的是额定电压、额定纹波电流、纹波发热特性、尤其是陶瓷电容器时温度特性和</a:t>
            </a:r>
            <a:r>
              <a:rPr lang="en-US" altLang="zh-CN" dirty="0">
                <a:solidFill>
                  <a:srgbClr val="FF0000"/>
                </a:solidFill>
              </a:rPr>
              <a:t>DC</a:t>
            </a:r>
            <a:r>
              <a:rPr lang="zh-CN" altLang="zh-CN" dirty="0">
                <a:solidFill>
                  <a:srgbClr val="FF0000"/>
                </a:solidFill>
              </a:rPr>
              <a:t>偏置特性。</a:t>
            </a:r>
          </a:p>
          <a:p>
            <a:r>
              <a:rPr lang="en-US" altLang="zh-CN" dirty="0"/>
              <a:t> </a:t>
            </a:r>
            <a:endParaRPr lang="zh-CN" altLang="zh-CN" dirty="0"/>
          </a:p>
        </p:txBody>
      </p:sp>
      <p:sp>
        <p:nvSpPr>
          <p:cNvPr id="3" name="Rectangle 4">
            <a:extLst>
              <a:ext uri="{FF2B5EF4-FFF2-40B4-BE49-F238E27FC236}">
                <a16:creationId xmlns:a16="http://schemas.microsoft.com/office/drawing/2014/main" id="{2F27787C-48BE-08C5-93DA-92F1D461762C}"/>
              </a:ext>
            </a:extLst>
          </p:cNvPr>
          <p:cNvSpPr>
            <a:spLocks noChangeArrowheads="1"/>
          </p:cNvSpPr>
          <p:nvPr/>
        </p:nvSpPr>
        <p:spPr bwMode="auto">
          <a:xfrm>
            <a:off x="1246187" y="958789"/>
            <a:ext cx="8619215" cy="227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en-US" altLang="zh-CN" dirty="0">
                <a:solidFill>
                  <a:srgbClr val="FF0000"/>
                </a:solidFill>
              </a:rPr>
              <a:t>3)</a:t>
            </a:r>
            <a:r>
              <a:rPr lang="zh-CN" altLang="zh-CN" dirty="0">
                <a:solidFill>
                  <a:srgbClr val="FF0000"/>
                </a:solidFill>
              </a:rPr>
              <a:t>云母电容：</a:t>
            </a:r>
          </a:p>
          <a:p>
            <a:pPr lvl="0"/>
            <a:r>
              <a:rPr lang="zh-CN" altLang="zh-CN" dirty="0">
                <a:solidFill>
                  <a:srgbClr val="FF0000"/>
                </a:solidFill>
              </a:rPr>
              <a:t>应用：云母电容用于无线电接发设备，精密电子仪器，现代通讯仪器仪表及设备，收音机，功放机，电视机等。它们可以应用于无线电收发器中，使其能够与天线匹配，也可以用于声学、雷达和其他应用领域。此外，它们还可以用于稳压电源中，以控制对所需电压的变化。</a:t>
            </a:r>
          </a:p>
          <a:p>
            <a:r>
              <a:rPr lang="en-US" altLang="zh-CN" dirty="0">
                <a:solidFill>
                  <a:srgbClr val="FF0000"/>
                </a:solidFill>
              </a:rPr>
              <a:t> </a:t>
            </a:r>
            <a:endParaRPr lang="zh-CN" altLang="zh-CN" dirty="0">
              <a:solidFill>
                <a:srgbClr val="FF0000"/>
              </a:solidFill>
            </a:endParaRPr>
          </a:p>
          <a:p>
            <a:pPr lvl="0"/>
            <a:r>
              <a:rPr lang="zh-CN" altLang="zh-CN" dirty="0">
                <a:solidFill>
                  <a:srgbClr val="FF0000"/>
                </a:solidFill>
              </a:rPr>
              <a:t>选择：云母电容器是的高频电容之一，广泛应用于对电容的稳定性和可靠性要求高的场合。</a:t>
            </a:r>
          </a:p>
        </p:txBody>
      </p:sp>
    </p:spTree>
    <p:extLst>
      <p:ext uri="{BB962C8B-B14F-4D97-AF65-F5344CB8AC3E}">
        <p14:creationId xmlns:p14="http://schemas.microsoft.com/office/powerpoint/2010/main" val="23304125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P spid="2" grpId="0" autoUpdateAnimBg="0"/>
      <p:bldP spid="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025525" y="874713"/>
            <a:ext cx="9920288" cy="847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SzPct val="90000"/>
            </a:pPr>
            <a:r>
              <a:rPr kumimoji="1" lang="en-US" altLang="zh-CN" sz="27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    </a:t>
            </a:r>
            <a:r>
              <a:rPr kumimoji="1" lang="en-US" altLang="zh-CN"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6</a:t>
            </a:r>
            <a:r>
              <a:rPr kumimoji="1" lang="zh-CN" altLang="en-US" sz="4000" b="1" dirty="0">
                <a:solidFill>
                  <a:srgbClr val="0000FF"/>
                </a:solidFill>
                <a:latin typeface="Times New Roman" panose="02020603050405020304" pitchFamily="18" charset="0"/>
                <a:ea typeface="华文新魏" panose="02010800040101010101" pitchFamily="2" charset="-122"/>
                <a:sym typeface="Wingdings" panose="05000000000000000000" pitchFamily="2" charset="2"/>
              </a:rPr>
              <a:t>电容频率特性对电容选择的影响</a:t>
            </a:r>
            <a:endParaRPr kumimoji="1" lang="zh-CN" altLang="en-US" sz="4000" b="1" dirty="0">
              <a:solidFill>
                <a:srgbClr val="0000CC"/>
              </a:solidFill>
              <a:latin typeface="华文中宋" panose="02010600040101010101" pitchFamily="2" charset="-122"/>
              <a:ea typeface="华文中宋" panose="02010600040101010101" pitchFamily="2" charset="-122"/>
              <a:sym typeface="Wingdings" panose="05000000000000000000" pitchFamily="2" charset="2"/>
            </a:endParaRPr>
          </a:p>
        </p:txBody>
      </p:sp>
      <p:sp>
        <p:nvSpPr>
          <p:cNvPr id="136196" name="Rectangle 4"/>
          <p:cNvSpPr>
            <a:spLocks noChangeArrowheads="1"/>
          </p:cNvSpPr>
          <p:nvPr/>
        </p:nvSpPr>
        <p:spPr bwMode="auto">
          <a:xfrm>
            <a:off x="1099290" y="1787954"/>
            <a:ext cx="9993420" cy="4261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nchor="b"/>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dirty="0">
                <a:solidFill>
                  <a:srgbClr val="FF0000"/>
                </a:solidFill>
              </a:rPr>
              <a:t>电路的频率特性在选用电容器时是一个重要的考虑因素。</a:t>
            </a:r>
          </a:p>
          <a:p>
            <a:r>
              <a:rPr lang="en-US" altLang="zh-CN" dirty="0">
                <a:solidFill>
                  <a:srgbClr val="FF0000"/>
                </a:solidFill>
              </a:rPr>
              <a:t> </a:t>
            </a:r>
            <a:endParaRPr lang="zh-CN" altLang="zh-CN" dirty="0">
              <a:solidFill>
                <a:srgbClr val="FF0000"/>
              </a:solidFill>
            </a:endParaRPr>
          </a:p>
          <a:p>
            <a:pPr lvl="0"/>
            <a:r>
              <a:rPr lang="zh-CN" altLang="zh-CN" dirty="0">
                <a:solidFill>
                  <a:srgbClr val="FF0000"/>
                </a:solidFill>
              </a:rPr>
              <a:t>电容阻抗与频率的关系：电容器的阻抗（即对交流信号的阻抗）与频率有关。在理想情况下，电容器的阻抗随着频率的增加而减小。这意味着在高频信号中，电容器更容易通过交流信号。</a:t>
            </a:r>
          </a:p>
          <a:p>
            <a:r>
              <a:rPr lang="en-US" altLang="zh-CN" dirty="0">
                <a:solidFill>
                  <a:srgbClr val="FF0000"/>
                </a:solidFill>
              </a:rPr>
              <a:t> </a:t>
            </a:r>
            <a:endParaRPr lang="zh-CN" altLang="zh-CN" dirty="0">
              <a:solidFill>
                <a:srgbClr val="FF0000"/>
              </a:solidFill>
            </a:endParaRPr>
          </a:p>
          <a:p>
            <a:pPr lvl="0"/>
            <a:r>
              <a:rPr lang="zh-CN" altLang="zh-CN" dirty="0">
                <a:solidFill>
                  <a:srgbClr val="FF0000"/>
                </a:solidFill>
              </a:rPr>
              <a:t>电容器的自谐振频率：每个电容器都有一个自谐振频率，在这个频率下，电容器的阻抗最小。在自谐振频率附近，电容器对信号的通过性最好。因此，如果电路的工作频率接近电容器的自谐振频率，那么这个电容器就能提供最好的性能。</a:t>
            </a:r>
          </a:p>
          <a:p>
            <a:r>
              <a:rPr lang="en-US" altLang="zh-CN" dirty="0">
                <a:solidFill>
                  <a:srgbClr val="FF0000"/>
                </a:solidFill>
              </a:rPr>
              <a:t> </a:t>
            </a:r>
            <a:endParaRPr lang="zh-CN" altLang="zh-CN" dirty="0">
              <a:solidFill>
                <a:srgbClr val="FF0000"/>
              </a:solidFill>
            </a:endParaRPr>
          </a:p>
          <a:p>
            <a:pPr lvl="0"/>
            <a:r>
              <a:rPr lang="zh-CN" altLang="zh-CN" dirty="0">
                <a:solidFill>
                  <a:srgbClr val="FF0000"/>
                </a:solidFill>
              </a:rPr>
              <a:t>电容器的频率响应：不同类型的电容器（如电解电容、瓷介电容、云母电容、玻璃釉电容等）在不同频率下的性能会有所不同。例如，一些电容器在高频下性能优良，而另一些电容器在低频下性能更好。</a:t>
            </a:r>
          </a:p>
          <a:p>
            <a:r>
              <a:rPr lang="en-US" altLang="zh-CN" dirty="0">
                <a:solidFill>
                  <a:srgbClr val="FF0000"/>
                </a:solidFill>
              </a:rPr>
              <a:t> </a:t>
            </a:r>
            <a:endParaRPr lang="zh-CN" altLang="zh-CN" dirty="0">
              <a:solidFill>
                <a:srgbClr val="FF0000"/>
              </a:solidFill>
            </a:endParaRPr>
          </a:p>
          <a:p>
            <a:pPr lvl="0"/>
            <a:r>
              <a:rPr lang="zh-CN" altLang="zh-CN" dirty="0">
                <a:solidFill>
                  <a:srgbClr val="FF0000"/>
                </a:solidFill>
              </a:rPr>
              <a:t>电容器的滤波和去耦功能：电容器常常被用于电路中的滤波和去耦。滤波是将信号中特定波段频率滤除的操作，是抑制和防止干扰的一项重要措施。去耦则是减小局部电路对外的噪声干扰。</a:t>
            </a:r>
          </a:p>
        </p:txBody>
      </p:sp>
      <p:sp>
        <p:nvSpPr>
          <p:cNvPr id="136197" name="Rectangle 5"/>
          <p:cNvSpPr>
            <a:spLocks noChangeArrowheads="1"/>
          </p:cNvSpPr>
          <p:nvPr/>
        </p:nvSpPr>
        <p:spPr bwMode="auto">
          <a:xfrm>
            <a:off x="814388" y="3619500"/>
            <a:ext cx="5281612" cy="5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3" tIns="54426" rIns="108853" bIns="54426">
            <a:spAutoFit/>
          </a:bodyPr>
          <a:lstStyle>
            <a:lvl1pPr defTabSz="1087438">
              <a:defRPr>
                <a:solidFill>
                  <a:schemeClr val="tx1"/>
                </a:solidFill>
                <a:latin typeface="Arial" panose="020B0604020202020204" pitchFamily="34" charset="0"/>
                <a:ea typeface="宋体" panose="02010600030101010101" pitchFamily="2" charset="-122"/>
              </a:defRPr>
            </a:lvl1pPr>
            <a:lvl2pPr marL="742950" indent="-285750" defTabSz="1087438">
              <a:defRPr>
                <a:solidFill>
                  <a:schemeClr val="tx1"/>
                </a:solidFill>
                <a:latin typeface="Arial" panose="020B0604020202020204" pitchFamily="34" charset="0"/>
                <a:ea typeface="宋体" panose="02010600030101010101" pitchFamily="2" charset="-122"/>
              </a:defRPr>
            </a:lvl2pPr>
            <a:lvl3pPr marL="1143000" indent="-228600" defTabSz="1087438">
              <a:defRPr>
                <a:solidFill>
                  <a:schemeClr val="tx1"/>
                </a:solidFill>
                <a:latin typeface="Arial" panose="020B0604020202020204" pitchFamily="34" charset="0"/>
                <a:ea typeface="宋体" panose="02010600030101010101" pitchFamily="2" charset="-122"/>
              </a:defRPr>
            </a:lvl3pPr>
            <a:lvl4pPr marL="1600200" indent="-228600" defTabSz="1087438">
              <a:defRPr>
                <a:solidFill>
                  <a:schemeClr val="tx1"/>
                </a:solidFill>
                <a:latin typeface="Arial" panose="020B0604020202020204" pitchFamily="34" charset="0"/>
                <a:ea typeface="宋体" panose="02010600030101010101" pitchFamily="2" charset="-122"/>
              </a:defRPr>
            </a:lvl4pPr>
            <a:lvl5pPr marL="2057400" indent="-228600" defTabSz="1087438">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SzPct val="90000"/>
            </a:pPr>
            <a:r>
              <a:rPr kumimoji="1" lang="en-US" altLang="zh-CN"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 </a:t>
            </a:r>
            <a:endParaRPr kumimoji="1" lang="zh-CN" altLang="en-US" sz="2400" b="1" dirty="0">
              <a:solidFill>
                <a:srgbClr val="0000CC"/>
              </a:solidFill>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endParaRPr>
          </a:p>
        </p:txBody>
      </p:sp>
      <p:sp>
        <p:nvSpPr>
          <p:cNvPr id="13318" name="Rectangle 3"/>
          <p:cNvSpPr txBox="1">
            <a:spLocks noChangeArrowheads="1"/>
          </p:cNvSpPr>
          <p:nvPr/>
        </p:nvSpPr>
        <p:spPr bwMode="auto">
          <a:xfrm>
            <a:off x="2438400" y="26988"/>
            <a:ext cx="9753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多种种类的电容器介绍</a:t>
            </a:r>
          </a:p>
        </p:txBody>
      </p:sp>
    </p:spTree>
    <p:extLst>
      <p:ext uri="{BB962C8B-B14F-4D97-AF65-F5344CB8AC3E}">
        <p14:creationId xmlns:p14="http://schemas.microsoft.com/office/powerpoint/2010/main" val="29712808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wipe(left)">
                                      <p:cBhvr>
                                        <p:cTn id="7" dur="500"/>
                                        <p:tgtEl>
                                          <p:spTgt spid="136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wipe(left)">
                                      <p:cBhvr>
                                        <p:cTn id="12"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utoUpdateAnimBg="0"/>
      <p:bldP spid="136197" grpId="0" autoUpdateAnimBg="0"/>
    </p:bldLst>
  </p:timing>
</p:sld>
</file>

<file path=ppt/theme/theme1.xml><?xml version="1.0" encoding="utf-8"?>
<a:theme xmlns:a="http://schemas.openxmlformats.org/drawingml/2006/main" name="电路基础内页版式">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电路基础首页版式">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7314</TotalTime>
  <Words>3814</Words>
  <Application>Microsoft Office PowerPoint</Application>
  <PresentationFormat>宽屏</PresentationFormat>
  <Paragraphs>210</Paragraphs>
  <Slides>28</Slides>
  <Notes>0</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28</vt:i4>
      </vt:variant>
    </vt:vector>
  </HeadingPairs>
  <TitlesOfParts>
    <vt:vector size="41" baseType="lpstr">
      <vt:lpstr>等线</vt:lpstr>
      <vt:lpstr>黑体</vt:lpstr>
      <vt:lpstr>华文行楷</vt:lpstr>
      <vt:lpstr>华文中宋</vt:lpstr>
      <vt:lpstr>微软雅黑</vt:lpstr>
      <vt:lpstr>Arial</vt:lpstr>
      <vt:lpstr>Calibri</vt:lpstr>
      <vt:lpstr>Calibri Light</vt:lpstr>
      <vt:lpstr>Times New Roman</vt:lpstr>
      <vt:lpstr>电路基础内页版式</vt:lpstr>
      <vt:lpstr>1_自定义设计方案</vt:lpstr>
      <vt:lpstr>电路基础首页版式</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lingxia</dc:creator>
  <cp:lastModifiedBy>壹林 張</cp:lastModifiedBy>
  <cp:revision>456</cp:revision>
  <dcterms:created xsi:type="dcterms:W3CDTF">2016-12-05T03:39:22Z</dcterms:created>
  <dcterms:modified xsi:type="dcterms:W3CDTF">2023-12-24T14:02:01Z</dcterms:modified>
</cp:coreProperties>
</file>